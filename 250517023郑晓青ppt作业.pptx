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70" r:id="rId9"/>
    <p:sldId id="272" r:id="rId10"/>
    <p:sldId id="267" r:id="rId11"/>
    <p:sldId id="273" r:id="rId12"/>
    <p:sldId id="268" r:id="rId13"/>
    <p:sldId id="27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000B"/>
    <a:srgbClr val="2C2F2D"/>
    <a:srgbClr val="9E000E"/>
    <a:srgbClr val="FDFBEE"/>
    <a:srgbClr val="3C413D"/>
    <a:srgbClr val="E14352"/>
    <a:srgbClr val="B20010"/>
    <a:srgbClr val="E60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69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0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59c11caf84bfef136e44f002c359eae1"/>
          <p:cNvPicPr>
            <a:picLocks noChangeAspect="1"/>
          </p:cNvPicPr>
          <p:nvPr/>
        </p:nvPicPr>
        <p:blipFill>
          <a:blip r:embed="rId2">
            <a:lum bright="-12000" contrast="12000"/>
          </a:blip>
          <a:srcRect l="2206" b="4413"/>
          <a:stretch>
            <a:fillRect/>
          </a:stretch>
        </p:blipFill>
        <p:spPr>
          <a:xfrm>
            <a:off x="-30480" y="961390"/>
            <a:ext cx="6079490" cy="5942330"/>
          </a:xfrm>
          <a:prstGeom prst="rect">
            <a:avLst/>
          </a:prstGeom>
        </p:spPr>
      </p:pic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3">
            <a:lum bright="100000"/>
          </a:blip>
          <a:srcRect b="18423"/>
          <a:stretch>
            <a:fillRect/>
          </a:stretch>
        </p:blipFill>
        <p:spPr>
          <a:xfrm>
            <a:off x="8166735" y="1743710"/>
            <a:ext cx="2332990" cy="2699385"/>
          </a:xfrm>
          <a:prstGeom prst="rect">
            <a:avLst/>
          </a:prstGeom>
        </p:spPr>
      </p:pic>
      <p:sp>
        <p:nvSpPr>
          <p:cNvPr id="19" name="圆角矩形标注 18"/>
          <p:cNvSpPr/>
          <p:nvPr/>
        </p:nvSpPr>
        <p:spPr>
          <a:xfrm>
            <a:off x="3519170" y="961390"/>
            <a:ext cx="1222512" cy="782320"/>
          </a:xfrm>
          <a:prstGeom prst="wedgeRoundRectCallout">
            <a:avLst/>
          </a:prstGeom>
          <a:solidFill>
            <a:schemeClr val="bg1"/>
          </a:solidFill>
          <a:ln w="38100">
            <a:solidFill>
              <a:srgbClr val="2C2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>
                <a:solidFill>
                  <a:srgbClr val="9E000E"/>
                </a:solidFill>
                <a:latin typeface="方正稚艺_GBK" panose="02000000000000000000" charset="-122"/>
                <a:ea typeface="方正稚艺_GBK" panose="02000000000000000000" charset="-122"/>
              </a:rPr>
              <a:t>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4715" y="2660015"/>
            <a:ext cx="4769485" cy="153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latin typeface="方正兰亭细黑_GBK" panose="02000000000000000000" charset="-122"/>
                <a:ea typeface="方正兰亭细黑_GBK" panose="02000000000000000000" charset="-122"/>
                <a:sym typeface="+mn-ea"/>
              </a:rPr>
              <a:t>CONTENT</a:t>
            </a:r>
          </a:p>
          <a:p>
            <a:pPr algn="ctr"/>
            <a:r>
              <a:rPr lang="zh-CN" altLang="en-US" sz="2400">
                <a:solidFill>
                  <a:schemeClr val="bg1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目</a:t>
            </a:r>
            <a:r>
              <a:rPr lang="zh-CN" altLang="en-US" sz="2800">
                <a:solidFill>
                  <a:schemeClr val="bg1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录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4858385" y="1428115"/>
            <a:ext cx="5325110" cy="648335"/>
            <a:chOff x="5616" y="3911"/>
            <a:chExt cx="8386" cy="1021"/>
          </a:xfrm>
        </p:grpSpPr>
        <p:grpSp>
          <p:nvGrpSpPr>
            <p:cNvPr id="9" name="组合 8"/>
            <p:cNvGrpSpPr/>
            <p:nvPr/>
          </p:nvGrpSpPr>
          <p:grpSpPr>
            <a:xfrm>
              <a:off x="5616" y="3911"/>
              <a:ext cx="1456" cy="1021"/>
              <a:chOff x="4392" y="3660"/>
              <a:chExt cx="2054" cy="1440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4392" y="3660"/>
                <a:ext cx="2054" cy="144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3C413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4656" y="4152"/>
                <a:ext cx="456" cy="45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5712" y="4152"/>
                <a:ext cx="456" cy="45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4891" y="4380"/>
                <a:ext cx="1056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文本框 10"/>
            <p:cNvSpPr txBox="1"/>
            <p:nvPr/>
          </p:nvSpPr>
          <p:spPr>
            <a:xfrm>
              <a:off x="9834" y="4045"/>
              <a:ext cx="4168" cy="72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信息与计算机技术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253" y="3916"/>
              <a:ext cx="240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Part 1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035040" y="2479675"/>
            <a:ext cx="6030595" cy="648335"/>
            <a:chOff x="5616" y="5511"/>
            <a:chExt cx="9497" cy="1021"/>
          </a:xfrm>
        </p:grpSpPr>
        <p:grpSp>
          <p:nvGrpSpPr>
            <p:cNvPr id="19" name="组合 18"/>
            <p:cNvGrpSpPr/>
            <p:nvPr/>
          </p:nvGrpSpPr>
          <p:grpSpPr>
            <a:xfrm>
              <a:off x="5616" y="5511"/>
              <a:ext cx="1456" cy="1021"/>
              <a:chOff x="4392" y="3660"/>
              <a:chExt cx="2054" cy="1440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4392" y="3660"/>
                <a:ext cx="2054" cy="144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3C413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4656" y="4152"/>
                <a:ext cx="456" cy="45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5712" y="4152"/>
                <a:ext cx="456" cy="45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>
                <a:off x="4891" y="4380"/>
                <a:ext cx="1056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9491" y="5593"/>
              <a:ext cx="5622" cy="72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操作系统与常用工具软件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253" y="5516"/>
              <a:ext cx="240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Part 2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654040" y="3550920"/>
            <a:ext cx="4909185" cy="648335"/>
            <a:chOff x="5616" y="7131"/>
            <a:chExt cx="7731" cy="1021"/>
          </a:xfrm>
        </p:grpSpPr>
        <p:grpSp>
          <p:nvGrpSpPr>
            <p:cNvPr id="26" name="组合 25"/>
            <p:cNvGrpSpPr/>
            <p:nvPr/>
          </p:nvGrpSpPr>
          <p:grpSpPr>
            <a:xfrm>
              <a:off x="5616" y="7131"/>
              <a:ext cx="1456" cy="1021"/>
              <a:chOff x="4392" y="3660"/>
              <a:chExt cx="2054" cy="14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4392" y="3660"/>
                <a:ext cx="2054" cy="144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3C413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4656" y="4152"/>
                <a:ext cx="456" cy="45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5712" y="4152"/>
                <a:ext cx="456" cy="45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>
                <a:off x="4891" y="4380"/>
                <a:ext cx="1056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文本框 30"/>
            <p:cNvSpPr txBox="1"/>
            <p:nvPr/>
          </p:nvSpPr>
          <p:spPr>
            <a:xfrm>
              <a:off x="9834" y="7278"/>
              <a:ext cx="3513" cy="72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办公利器</a:t>
              </a:r>
              <a:r>
                <a:rPr lang="en-US" altLang="zh-CN" sz="2400" dirty="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office</a:t>
              </a:r>
              <a:endParaRPr lang="zh-CN" altLang="en-US" sz="2400" dirty="0">
                <a:solidFill>
                  <a:schemeClr val="bg1"/>
                </a:solidFill>
                <a:latin typeface="方正兰亭细黑_GBK" panose="02000000000000000000" charset="-122"/>
                <a:ea typeface="方正兰亭细黑_GBK" panose="02000000000000000000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253" y="7136"/>
              <a:ext cx="240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Part 3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739640" y="4596130"/>
            <a:ext cx="5978525" cy="648335"/>
            <a:chOff x="5616" y="8799"/>
            <a:chExt cx="9415" cy="1021"/>
          </a:xfrm>
        </p:grpSpPr>
        <p:grpSp>
          <p:nvGrpSpPr>
            <p:cNvPr id="33" name="组合 32"/>
            <p:cNvGrpSpPr/>
            <p:nvPr/>
          </p:nvGrpSpPr>
          <p:grpSpPr>
            <a:xfrm>
              <a:off x="5616" y="8799"/>
              <a:ext cx="1456" cy="1021"/>
              <a:chOff x="4392" y="3660"/>
              <a:chExt cx="2054" cy="1440"/>
            </a:xfrm>
          </p:grpSpPr>
          <p:sp>
            <p:nvSpPr>
              <p:cNvPr id="34" name="椭圆 33"/>
              <p:cNvSpPr/>
              <p:nvPr/>
            </p:nvSpPr>
            <p:spPr>
              <a:xfrm>
                <a:off x="4392" y="3660"/>
                <a:ext cx="2054" cy="144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3C413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4656" y="4152"/>
                <a:ext cx="456" cy="45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5712" y="4152"/>
                <a:ext cx="456" cy="456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4891" y="4380"/>
                <a:ext cx="1056" cy="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/>
            <p:cNvSpPr txBox="1"/>
            <p:nvPr/>
          </p:nvSpPr>
          <p:spPr>
            <a:xfrm>
              <a:off x="9893" y="9052"/>
              <a:ext cx="5138" cy="72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计算机信息安全与防护</a:t>
              </a: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253" y="8804"/>
              <a:ext cx="240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>
                  <a:solidFill>
                    <a:schemeClr val="bg1"/>
                  </a:solidFill>
                  <a:latin typeface="方正兰亭细黑_GBK" panose="02000000000000000000" charset="-122"/>
                  <a:ea typeface="方正兰亭细黑_GBK" panose="02000000000000000000" charset="-122"/>
                </a:rPr>
                <a:t>Part 4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 rot="2100000">
            <a:off x="-1078230" y="4373880"/>
            <a:ext cx="4384040" cy="3074035"/>
            <a:chOff x="4392" y="3660"/>
            <a:chExt cx="2054" cy="1440"/>
          </a:xfrm>
        </p:grpSpPr>
        <p:sp>
          <p:nvSpPr>
            <p:cNvPr id="44" name="椭圆 43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4656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5712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4891" y="4380"/>
              <a:ext cx="1056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903980" y="1892300"/>
            <a:ext cx="4384040" cy="3074035"/>
            <a:chOff x="4392" y="3660"/>
            <a:chExt cx="2054" cy="1440"/>
          </a:xfrm>
        </p:grpSpPr>
        <p:sp>
          <p:nvSpPr>
            <p:cNvPr id="9" name="椭圆 8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rgbClr val="FDFBEE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667" y="4487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723" y="4487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941" y="4779"/>
              <a:ext cx="105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5075761" y="3011404"/>
            <a:ext cx="2031325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dirty="0">
                <a:latin typeface="方正兰亭细黑_GBK" panose="02000000000000000000" charset="-122"/>
                <a:ea typeface="方正兰亭细黑_GBK" panose="02000000000000000000" charset="-122"/>
              </a:rPr>
              <a:t>信息与计算机技术</a:t>
            </a:r>
          </a:p>
          <a:p>
            <a:pPr algn="ctr"/>
            <a:endParaRPr lang="zh-CN" altLang="en-US" dirty="0">
              <a:solidFill>
                <a:srgbClr val="9E000E"/>
              </a:solidFill>
              <a:latin typeface="方正兰亭细黑_GBK" panose="02000000000000000000" charset="-122"/>
              <a:ea typeface="方正兰亭细黑_GBK" panose="020000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34635" y="2213610"/>
            <a:ext cx="152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rgbClr val="9E000E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Part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pic>
        <p:nvPicPr>
          <p:cNvPr id="2" name="图片 1" descr="9a1f5deead3f052a9b0ffba7c678cefe"/>
          <p:cNvPicPr>
            <a:picLocks noChangeAspect="1"/>
          </p:cNvPicPr>
          <p:nvPr/>
        </p:nvPicPr>
        <p:blipFill>
          <a:blip r:embed="rId3">
            <a:lum bright="-18000" contrast="30000"/>
          </a:blip>
          <a:srcRect t="72302" r="65194"/>
          <a:stretch>
            <a:fillRect/>
          </a:stretch>
        </p:blipFill>
        <p:spPr>
          <a:xfrm flipH="1">
            <a:off x="65405" y="290830"/>
            <a:ext cx="1759585" cy="787400"/>
          </a:xfrm>
          <a:prstGeom prst="rect">
            <a:avLst/>
          </a:prstGeom>
        </p:spPr>
      </p:pic>
      <p:sp>
        <p:nvSpPr>
          <p:cNvPr id="13" name="Freeform 22"/>
          <p:cNvSpPr/>
          <p:nvPr/>
        </p:nvSpPr>
        <p:spPr bwMode="auto">
          <a:xfrm>
            <a:off x="6155894" y="2463183"/>
            <a:ext cx="1532289" cy="1837381"/>
          </a:xfrm>
          <a:custGeom>
            <a:avLst/>
            <a:gdLst>
              <a:gd name="T0" fmla="*/ 0 w 285"/>
              <a:gd name="T1" fmla="*/ 0 h 342"/>
              <a:gd name="T2" fmla="*/ 0 w 285"/>
              <a:gd name="T3" fmla="*/ 68 h 342"/>
              <a:gd name="T4" fmla="*/ 52 w 285"/>
              <a:gd name="T5" fmla="*/ 143 h 342"/>
              <a:gd name="T6" fmla="*/ 0 w 285"/>
              <a:gd name="T7" fmla="*/ 217 h 342"/>
              <a:gd name="T8" fmla="*/ 0 w 285"/>
              <a:gd name="T9" fmla="*/ 285 h 342"/>
              <a:gd name="T10" fmla="*/ 86 w 285"/>
              <a:gd name="T11" fmla="*/ 285 h 342"/>
              <a:gd name="T12" fmla="*/ 142 w 285"/>
              <a:gd name="T13" fmla="*/ 342 h 342"/>
              <a:gd name="T14" fmla="*/ 199 w 285"/>
              <a:gd name="T15" fmla="*/ 285 h 342"/>
              <a:gd name="T16" fmla="*/ 285 w 285"/>
              <a:gd name="T17" fmla="*/ 285 h 342"/>
              <a:gd name="T18" fmla="*/ 285 w 285"/>
              <a:gd name="T19" fmla="*/ 0 h 342"/>
              <a:gd name="T20" fmla="*/ 0 w 285"/>
              <a:gd name="T21" fmla="*/ 0 h 3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85" h="342">
                <a:moveTo>
                  <a:pt x="0" y="0"/>
                </a:moveTo>
                <a:cubicBezTo>
                  <a:pt x="0" y="68"/>
                  <a:pt x="0" y="68"/>
                  <a:pt x="0" y="68"/>
                </a:cubicBezTo>
                <a:cubicBezTo>
                  <a:pt x="30" y="79"/>
                  <a:pt x="52" y="108"/>
                  <a:pt x="52" y="143"/>
                </a:cubicBezTo>
                <a:cubicBezTo>
                  <a:pt x="52" y="177"/>
                  <a:pt x="30" y="206"/>
                  <a:pt x="0" y="217"/>
                </a:cubicBezTo>
                <a:cubicBezTo>
                  <a:pt x="0" y="285"/>
                  <a:pt x="0" y="285"/>
                  <a:pt x="0" y="285"/>
                </a:cubicBezTo>
                <a:cubicBezTo>
                  <a:pt x="86" y="285"/>
                  <a:pt x="86" y="285"/>
                  <a:pt x="86" y="285"/>
                </a:cubicBezTo>
                <a:cubicBezTo>
                  <a:pt x="86" y="316"/>
                  <a:pt x="111" y="342"/>
                  <a:pt x="142" y="342"/>
                </a:cubicBezTo>
                <a:cubicBezTo>
                  <a:pt x="173" y="342"/>
                  <a:pt x="199" y="316"/>
                  <a:pt x="199" y="285"/>
                </a:cubicBezTo>
                <a:cubicBezTo>
                  <a:pt x="285" y="285"/>
                  <a:pt x="285" y="285"/>
                  <a:pt x="285" y="285"/>
                </a:cubicBezTo>
                <a:cubicBezTo>
                  <a:pt x="285" y="0"/>
                  <a:pt x="285" y="0"/>
                  <a:pt x="285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4352"/>
          </a:solidFill>
          <a:ln w="6350"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Freeform 23"/>
          <p:cNvSpPr/>
          <p:nvPr/>
        </p:nvSpPr>
        <p:spPr bwMode="auto">
          <a:xfrm>
            <a:off x="5850802" y="4145741"/>
            <a:ext cx="1837381" cy="1532288"/>
          </a:xfrm>
          <a:custGeom>
            <a:avLst/>
            <a:gdLst>
              <a:gd name="T0" fmla="*/ 274 w 342"/>
              <a:gd name="T1" fmla="*/ 0 h 285"/>
              <a:gd name="T2" fmla="*/ 199 w 342"/>
              <a:gd name="T3" fmla="*/ 52 h 285"/>
              <a:gd name="T4" fmla="*/ 124 w 342"/>
              <a:gd name="T5" fmla="*/ 0 h 285"/>
              <a:gd name="T6" fmla="*/ 57 w 342"/>
              <a:gd name="T7" fmla="*/ 0 h 285"/>
              <a:gd name="T8" fmla="*/ 57 w 342"/>
              <a:gd name="T9" fmla="*/ 86 h 285"/>
              <a:gd name="T10" fmla="*/ 0 w 342"/>
              <a:gd name="T11" fmla="*/ 142 h 285"/>
              <a:gd name="T12" fmla="*/ 57 w 342"/>
              <a:gd name="T13" fmla="*/ 199 h 285"/>
              <a:gd name="T14" fmla="*/ 57 w 342"/>
              <a:gd name="T15" fmla="*/ 285 h 285"/>
              <a:gd name="T16" fmla="*/ 342 w 342"/>
              <a:gd name="T17" fmla="*/ 285 h 285"/>
              <a:gd name="T18" fmla="*/ 342 w 342"/>
              <a:gd name="T19" fmla="*/ 0 h 285"/>
              <a:gd name="T20" fmla="*/ 274 w 342"/>
              <a:gd name="T21" fmla="*/ 0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2" h="285">
                <a:moveTo>
                  <a:pt x="274" y="0"/>
                </a:moveTo>
                <a:cubicBezTo>
                  <a:pt x="263" y="30"/>
                  <a:pt x="234" y="52"/>
                  <a:pt x="199" y="52"/>
                </a:cubicBezTo>
                <a:cubicBezTo>
                  <a:pt x="165" y="52"/>
                  <a:pt x="136" y="30"/>
                  <a:pt x="124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7" y="86"/>
                  <a:pt x="57" y="86"/>
                  <a:pt x="57" y="86"/>
                </a:cubicBezTo>
                <a:cubicBezTo>
                  <a:pt x="25" y="86"/>
                  <a:pt x="0" y="111"/>
                  <a:pt x="0" y="142"/>
                </a:cubicBezTo>
                <a:cubicBezTo>
                  <a:pt x="0" y="173"/>
                  <a:pt x="25" y="199"/>
                  <a:pt x="57" y="199"/>
                </a:cubicBezTo>
                <a:cubicBezTo>
                  <a:pt x="57" y="285"/>
                  <a:pt x="57" y="285"/>
                  <a:pt x="57" y="285"/>
                </a:cubicBezTo>
                <a:cubicBezTo>
                  <a:pt x="342" y="285"/>
                  <a:pt x="342" y="285"/>
                  <a:pt x="342" y="285"/>
                </a:cubicBezTo>
                <a:cubicBezTo>
                  <a:pt x="342" y="0"/>
                  <a:pt x="342" y="0"/>
                  <a:pt x="342" y="0"/>
                </a:cubicBezTo>
                <a:lnTo>
                  <a:pt x="274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Freeform 24"/>
          <p:cNvSpPr/>
          <p:nvPr/>
        </p:nvSpPr>
        <p:spPr bwMode="auto">
          <a:xfrm>
            <a:off x="4473337" y="3838372"/>
            <a:ext cx="1532288" cy="1839657"/>
          </a:xfrm>
          <a:custGeom>
            <a:avLst/>
            <a:gdLst>
              <a:gd name="T0" fmla="*/ 285 w 285"/>
              <a:gd name="T1" fmla="*/ 124 h 342"/>
              <a:gd name="T2" fmla="*/ 285 w 285"/>
              <a:gd name="T3" fmla="*/ 57 h 342"/>
              <a:gd name="T4" fmla="*/ 199 w 285"/>
              <a:gd name="T5" fmla="*/ 57 h 342"/>
              <a:gd name="T6" fmla="*/ 142 w 285"/>
              <a:gd name="T7" fmla="*/ 0 h 342"/>
              <a:gd name="T8" fmla="*/ 86 w 285"/>
              <a:gd name="T9" fmla="*/ 57 h 342"/>
              <a:gd name="T10" fmla="*/ 0 w 285"/>
              <a:gd name="T11" fmla="*/ 57 h 342"/>
              <a:gd name="T12" fmla="*/ 0 w 285"/>
              <a:gd name="T13" fmla="*/ 342 h 342"/>
              <a:gd name="T14" fmla="*/ 285 w 285"/>
              <a:gd name="T15" fmla="*/ 342 h 342"/>
              <a:gd name="T16" fmla="*/ 285 w 285"/>
              <a:gd name="T17" fmla="*/ 274 h 342"/>
              <a:gd name="T18" fmla="*/ 233 w 285"/>
              <a:gd name="T19" fmla="*/ 199 h 342"/>
              <a:gd name="T20" fmla="*/ 285 w 285"/>
              <a:gd name="T21" fmla="*/ 124 h 3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85" h="342">
                <a:moveTo>
                  <a:pt x="285" y="124"/>
                </a:moveTo>
                <a:cubicBezTo>
                  <a:pt x="285" y="57"/>
                  <a:pt x="285" y="57"/>
                  <a:pt x="285" y="57"/>
                </a:cubicBezTo>
                <a:cubicBezTo>
                  <a:pt x="199" y="57"/>
                  <a:pt x="199" y="57"/>
                  <a:pt x="199" y="57"/>
                </a:cubicBezTo>
                <a:cubicBezTo>
                  <a:pt x="199" y="25"/>
                  <a:pt x="174" y="0"/>
                  <a:pt x="142" y="0"/>
                </a:cubicBezTo>
                <a:cubicBezTo>
                  <a:pt x="111" y="0"/>
                  <a:pt x="86" y="25"/>
                  <a:pt x="86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342"/>
                  <a:pt x="0" y="342"/>
                  <a:pt x="0" y="342"/>
                </a:cubicBezTo>
                <a:cubicBezTo>
                  <a:pt x="285" y="342"/>
                  <a:pt x="285" y="342"/>
                  <a:pt x="285" y="342"/>
                </a:cubicBezTo>
                <a:cubicBezTo>
                  <a:pt x="285" y="274"/>
                  <a:pt x="285" y="274"/>
                  <a:pt x="285" y="274"/>
                </a:cubicBezTo>
                <a:cubicBezTo>
                  <a:pt x="255" y="263"/>
                  <a:pt x="233" y="234"/>
                  <a:pt x="233" y="199"/>
                </a:cubicBezTo>
                <a:cubicBezTo>
                  <a:pt x="233" y="165"/>
                  <a:pt x="255" y="136"/>
                  <a:pt x="285" y="124"/>
                </a:cubicBezTo>
                <a:close/>
              </a:path>
            </a:pathLst>
          </a:custGeom>
          <a:solidFill>
            <a:srgbClr val="E14352"/>
          </a:solidFill>
          <a:ln w="6350"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Freeform 25"/>
          <p:cNvSpPr/>
          <p:nvPr/>
        </p:nvSpPr>
        <p:spPr bwMode="auto">
          <a:xfrm>
            <a:off x="4473337" y="2463183"/>
            <a:ext cx="1832826" cy="1532289"/>
          </a:xfrm>
          <a:custGeom>
            <a:avLst/>
            <a:gdLst>
              <a:gd name="T0" fmla="*/ 217 w 341"/>
              <a:gd name="T1" fmla="*/ 285 h 285"/>
              <a:gd name="T2" fmla="*/ 285 w 341"/>
              <a:gd name="T3" fmla="*/ 285 h 285"/>
              <a:gd name="T4" fmla="*/ 285 w 341"/>
              <a:gd name="T5" fmla="*/ 199 h 285"/>
              <a:gd name="T6" fmla="*/ 341 w 341"/>
              <a:gd name="T7" fmla="*/ 143 h 285"/>
              <a:gd name="T8" fmla="*/ 285 w 341"/>
              <a:gd name="T9" fmla="*/ 86 h 285"/>
              <a:gd name="T10" fmla="*/ 285 w 341"/>
              <a:gd name="T11" fmla="*/ 0 h 285"/>
              <a:gd name="T12" fmla="*/ 0 w 341"/>
              <a:gd name="T13" fmla="*/ 0 h 285"/>
              <a:gd name="T14" fmla="*/ 0 w 341"/>
              <a:gd name="T15" fmla="*/ 285 h 285"/>
              <a:gd name="T16" fmla="*/ 68 w 341"/>
              <a:gd name="T17" fmla="*/ 285 h 285"/>
              <a:gd name="T18" fmla="*/ 142 w 341"/>
              <a:gd name="T19" fmla="*/ 233 h 285"/>
              <a:gd name="T20" fmla="*/ 217 w 341"/>
              <a:gd name="T2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1" h="285">
                <a:moveTo>
                  <a:pt x="217" y="285"/>
                </a:moveTo>
                <a:cubicBezTo>
                  <a:pt x="285" y="285"/>
                  <a:pt x="285" y="285"/>
                  <a:pt x="285" y="285"/>
                </a:cubicBezTo>
                <a:cubicBezTo>
                  <a:pt x="285" y="199"/>
                  <a:pt x="285" y="199"/>
                  <a:pt x="285" y="199"/>
                </a:cubicBezTo>
                <a:cubicBezTo>
                  <a:pt x="316" y="199"/>
                  <a:pt x="341" y="174"/>
                  <a:pt x="341" y="143"/>
                </a:cubicBezTo>
                <a:cubicBezTo>
                  <a:pt x="341" y="111"/>
                  <a:pt x="316" y="86"/>
                  <a:pt x="285" y="86"/>
                </a:cubicBezTo>
                <a:cubicBezTo>
                  <a:pt x="285" y="0"/>
                  <a:pt x="285" y="0"/>
                  <a:pt x="28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85"/>
                  <a:pt x="0" y="285"/>
                  <a:pt x="0" y="285"/>
                </a:cubicBezTo>
                <a:cubicBezTo>
                  <a:pt x="68" y="285"/>
                  <a:pt x="68" y="285"/>
                  <a:pt x="68" y="285"/>
                </a:cubicBezTo>
                <a:cubicBezTo>
                  <a:pt x="79" y="255"/>
                  <a:pt x="108" y="233"/>
                  <a:pt x="142" y="233"/>
                </a:cubicBezTo>
                <a:cubicBezTo>
                  <a:pt x="177" y="233"/>
                  <a:pt x="206" y="255"/>
                  <a:pt x="217" y="28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60425" y="1922145"/>
            <a:ext cx="3532505" cy="4086860"/>
            <a:chOff x="1304" y="1648"/>
            <a:chExt cx="5563" cy="6436"/>
          </a:xfrm>
        </p:grpSpPr>
        <p:sp>
          <p:nvSpPr>
            <p:cNvPr id="10" name="文本框 9"/>
            <p:cNvSpPr txBox="1"/>
            <p:nvPr/>
          </p:nvSpPr>
          <p:spPr>
            <a:xfrm>
              <a:off x="1304" y="1648"/>
              <a:ext cx="5233" cy="1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20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endParaRPr>
            </a:p>
            <a:p>
              <a:pPr algn="r"/>
              <a:r>
                <a:rPr lang="zh-CN" altLang="en-US" dirty="0">
                  <a:solidFill>
                    <a:schemeClr val="bg1"/>
                  </a:solidFill>
                  <a:latin typeface="汉仪南宫体简" panose="02010609000101010101" charset="-122"/>
                  <a:ea typeface="汉仪南宫体简" panose="02010609000101010101" charset="-122"/>
                </a:rPr>
                <a:t>计算机概述</a:t>
              </a:r>
            </a:p>
            <a:p>
              <a:pPr algn="r"/>
              <a:endParaRPr lang="zh-CN" altLang="en-US" sz="12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416" y="2704"/>
              <a:ext cx="5451" cy="5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计算机是一种能够按照预先存储的程序，自动、高速地对数据进行输入、处理、存储和输出的电子设备。</a:t>
              </a:r>
            </a:p>
            <a:p>
              <a:pPr algn="r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其核心由硬件系统（运算器、控制器、存储器、输入</a:t>
              </a:r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/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输出设备）和软件系统（系统软件、应用软件）组成，具备计算、数据处理、信息存储与传输、逻辑判断等功能，广泛应用于科学计算、人工智能、日常办公、娱乐等领域。</a:t>
              </a:r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  <a:p>
              <a:pPr algn="r"/>
              <a:endParaRPr lang="zh-CN" altLang="en-US" dirty="0"/>
            </a:p>
          </p:txBody>
        </p:sp>
      </p:grpSp>
      <p:sp>
        <p:nvSpPr>
          <p:cNvPr id="15" name="Freeform 23"/>
          <p:cNvSpPr/>
          <p:nvPr/>
        </p:nvSpPr>
        <p:spPr bwMode="auto">
          <a:xfrm>
            <a:off x="5850167" y="4146376"/>
            <a:ext cx="1837381" cy="1532288"/>
          </a:xfrm>
          <a:custGeom>
            <a:avLst/>
            <a:gdLst>
              <a:gd name="T0" fmla="*/ 274 w 342"/>
              <a:gd name="T1" fmla="*/ 0 h 285"/>
              <a:gd name="T2" fmla="*/ 199 w 342"/>
              <a:gd name="T3" fmla="*/ 52 h 285"/>
              <a:gd name="T4" fmla="*/ 124 w 342"/>
              <a:gd name="T5" fmla="*/ 0 h 285"/>
              <a:gd name="T6" fmla="*/ 57 w 342"/>
              <a:gd name="T7" fmla="*/ 0 h 285"/>
              <a:gd name="T8" fmla="*/ 57 w 342"/>
              <a:gd name="T9" fmla="*/ 86 h 285"/>
              <a:gd name="T10" fmla="*/ 0 w 342"/>
              <a:gd name="T11" fmla="*/ 142 h 285"/>
              <a:gd name="T12" fmla="*/ 57 w 342"/>
              <a:gd name="T13" fmla="*/ 199 h 285"/>
              <a:gd name="T14" fmla="*/ 57 w 342"/>
              <a:gd name="T15" fmla="*/ 285 h 285"/>
              <a:gd name="T16" fmla="*/ 342 w 342"/>
              <a:gd name="T17" fmla="*/ 285 h 285"/>
              <a:gd name="T18" fmla="*/ 342 w 342"/>
              <a:gd name="T19" fmla="*/ 0 h 285"/>
              <a:gd name="T20" fmla="*/ 274 w 342"/>
              <a:gd name="T21" fmla="*/ 0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2" h="285">
                <a:moveTo>
                  <a:pt x="274" y="0"/>
                </a:moveTo>
                <a:cubicBezTo>
                  <a:pt x="263" y="30"/>
                  <a:pt x="234" y="52"/>
                  <a:pt x="199" y="52"/>
                </a:cubicBezTo>
                <a:cubicBezTo>
                  <a:pt x="165" y="52"/>
                  <a:pt x="136" y="30"/>
                  <a:pt x="124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7" y="86"/>
                  <a:pt x="57" y="86"/>
                  <a:pt x="57" y="86"/>
                </a:cubicBezTo>
                <a:cubicBezTo>
                  <a:pt x="25" y="86"/>
                  <a:pt x="0" y="111"/>
                  <a:pt x="0" y="142"/>
                </a:cubicBezTo>
                <a:cubicBezTo>
                  <a:pt x="0" y="173"/>
                  <a:pt x="25" y="199"/>
                  <a:pt x="57" y="199"/>
                </a:cubicBezTo>
                <a:cubicBezTo>
                  <a:pt x="57" y="285"/>
                  <a:pt x="57" y="285"/>
                  <a:pt x="57" y="285"/>
                </a:cubicBezTo>
                <a:cubicBezTo>
                  <a:pt x="342" y="285"/>
                  <a:pt x="342" y="285"/>
                  <a:pt x="342" y="285"/>
                </a:cubicBezTo>
                <a:cubicBezTo>
                  <a:pt x="342" y="0"/>
                  <a:pt x="342" y="0"/>
                  <a:pt x="342" y="0"/>
                </a:cubicBezTo>
                <a:lnTo>
                  <a:pt x="27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Freeform 25"/>
          <p:cNvSpPr/>
          <p:nvPr/>
        </p:nvSpPr>
        <p:spPr bwMode="auto">
          <a:xfrm>
            <a:off x="4472702" y="2463818"/>
            <a:ext cx="1832826" cy="1532289"/>
          </a:xfrm>
          <a:custGeom>
            <a:avLst/>
            <a:gdLst>
              <a:gd name="T0" fmla="*/ 217 w 341"/>
              <a:gd name="T1" fmla="*/ 285 h 285"/>
              <a:gd name="T2" fmla="*/ 285 w 341"/>
              <a:gd name="T3" fmla="*/ 285 h 285"/>
              <a:gd name="T4" fmla="*/ 285 w 341"/>
              <a:gd name="T5" fmla="*/ 199 h 285"/>
              <a:gd name="T6" fmla="*/ 341 w 341"/>
              <a:gd name="T7" fmla="*/ 143 h 285"/>
              <a:gd name="T8" fmla="*/ 285 w 341"/>
              <a:gd name="T9" fmla="*/ 86 h 285"/>
              <a:gd name="T10" fmla="*/ 285 w 341"/>
              <a:gd name="T11" fmla="*/ 0 h 285"/>
              <a:gd name="T12" fmla="*/ 0 w 341"/>
              <a:gd name="T13" fmla="*/ 0 h 285"/>
              <a:gd name="T14" fmla="*/ 0 w 341"/>
              <a:gd name="T15" fmla="*/ 285 h 285"/>
              <a:gd name="T16" fmla="*/ 68 w 341"/>
              <a:gd name="T17" fmla="*/ 285 h 285"/>
              <a:gd name="T18" fmla="*/ 142 w 341"/>
              <a:gd name="T19" fmla="*/ 233 h 285"/>
              <a:gd name="T20" fmla="*/ 217 w 341"/>
              <a:gd name="T21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1" h="285">
                <a:moveTo>
                  <a:pt x="217" y="285"/>
                </a:moveTo>
                <a:cubicBezTo>
                  <a:pt x="285" y="285"/>
                  <a:pt x="285" y="285"/>
                  <a:pt x="285" y="285"/>
                </a:cubicBezTo>
                <a:cubicBezTo>
                  <a:pt x="285" y="199"/>
                  <a:pt x="285" y="199"/>
                  <a:pt x="285" y="199"/>
                </a:cubicBezTo>
                <a:cubicBezTo>
                  <a:pt x="316" y="199"/>
                  <a:pt x="341" y="174"/>
                  <a:pt x="341" y="143"/>
                </a:cubicBezTo>
                <a:cubicBezTo>
                  <a:pt x="341" y="111"/>
                  <a:pt x="316" y="86"/>
                  <a:pt x="285" y="86"/>
                </a:cubicBezTo>
                <a:cubicBezTo>
                  <a:pt x="285" y="0"/>
                  <a:pt x="285" y="0"/>
                  <a:pt x="28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85"/>
                  <a:pt x="0" y="285"/>
                  <a:pt x="0" y="285"/>
                </a:cubicBezTo>
                <a:cubicBezTo>
                  <a:pt x="68" y="285"/>
                  <a:pt x="68" y="285"/>
                  <a:pt x="68" y="285"/>
                </a:cubicBezTo>
                <a:cubicBezTo>
                  <a:pt x="79" y="255"/>
                  <a:pt x="108" y="233"/>
                  <a:pt x="142" y="233"/>
                </a:cubicBezTo>
                <a:cubicBezTo>
                  <a:pt x="177" y="233"/>
                  <a:pt x="206" y="255"/>
                  <a:pt x="217" y="2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762765" y="1922145"/>
            <a:ext cx="3461385" cy="4633595"/>
            <a:chOff x="868" y="1957"/>
            <a:chExt cx="5451" cy="7297"/>
          </a:xfrm>
        </p:grpSpPr>
        <p:sp>
          <p:nvSpPr>
            <p:cNvPr id="27" name="文本框 26"/>
            <p:cNvSpPr txBox="1"/>
            <p:nvPr/>
          </p:nvSpPr>
          <p:spPr>
            <a:xfrm>
              <a:off x="978" y="1957"/>
              <a:ext cx="5233" cy="1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20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endParaRPr>
            </a:p>
            <a:p>
              <a:pPr algn="l"/>
              <a:r>
                <a:rPr lang="zh-CN" altLang="en-US" dirty="0">
                  <a:solidFill>
                    <a:schemeClr val="bg1"/>
                  </a:solidFill>
                  <a:latin typeface="汉仪南宫体简" panose="02010609000101010101" charset="-122"/>
                  <a:ea typeface="汉仪南宫体简" panose="02010609000101010101" charset="-122"/>
                </a:rPr>
                <a:t>计算机硬件</a:t>
              </a:r>
              <a:r>
                <a:rPr lang="en-US" altLang="zh-CN" dirty="0">
                  <a:solidFill>
                    <a:schemeClr val="bg1"/>
                  </a:solidFill>
                  <a:latin typeface="汉仪南宫体简" panose="02010609000101010101" charset="-122"/>
                  <a:ea typeface="汉仪南宫体简" panose="02010609000101010101" charset="-122"/>
                </a:rPr>
                <a:t>.</a:t>
              </a:r>
              <a:r>
                <a:rPr lang="zh-CN" altLang="en-US" dirty="0">
                  <a:solidFill>
                    <a:schemeClr val="bg1"/>
                  </a:solidFill>
                  <a:latin typeface="汉仪南宫体简" panose="02010609000101010101" charset="-122"/>
                  <a:ea typeface="汉仪南宫体简" panose="02010609000101010101" charset="-122"/>
                </a:rPr>
                <a:t>软件系统</a:t>
              </a:r>
            </a:p>
            <a:p>
              <a:pPr algn="l"/>
              <a:endParaRPr lang="zh-CN" altLang="en-US" sz="12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68" y="2565"/>
              <a:ext cx="5451" cy="6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是计算机的物理实体，核心由运算器、控制器、存储器、输入设备、输出设备组成，负责数据的接收、处理和输出。</a:t>
              </a:r>
            </a:p>
            <a:p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</a:p>
            <a:p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计算机软件系统</a:t>
              </a:r>
            </a:p>
            <a:p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</a:p>
            <a:p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是运行在硬件上的程序和数据的集合，分为系统软件（如操作系统、编译器）和应用软件（如办公软件、游戏），用于控制硬件、实现特定功能。</a:t>
              </a:r>
            </a:p>
            <a:p>
              <a:pPr algn="l"/>
              <a:endPara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  <a:p>
              <a:pPr algn="l"/>
              <a:endParaRPr lang="zh-CN" altLang="en-US" dirty="0"/>
            </a:p>
          </p:txBody>
        </p:sp>
      </p:grpSp>
      <p:grpSp>
        <p:nvGrpSpPr>
          <p:cNvPr id="49" name="组合 48"/>
          <p:cNvGrpSpPr/>
          <p:nvPr/>
        </p:nvGrpSpPr>
        <p:grpSpPr>
          <a:xfrm rot="2100000">
            <a:off x="-708660" y="5340350"/>
            <a:ext cx="2908935" cy="2039620"/>
            <a:chOff x="4392" y="3660"/>
            <a:chExt cx="2054" cy="1440"/>
          </a:xfrm>
        </p:grpSpPr>
        <p:sp>
          <p:nvSpPr>
            <p:cNvPr id="50" name="椭圆 49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4656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5712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4891" y="4380"/>
              <a:ext cx="1056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06d2acf658ce82227726a6a8a3eb0367"/>
          <p:cNvPicPr>
            <a:picLocks noChangeAspect="1"/>
          </p:cNvPicPr>
          <p:nvPr/>
        </p:nvPicPr>
        <p:blipFill>
          <a:blip r:embed="rId2">
            <a:lum bright="-18000" contrast="30000"/>
          </a:blip>
          <a:srcRect l="17500" t="22800" r="27010" b="33600"/>
          <a:stretch>
            <a:fillRect/>
          </a:stretch>
        </p:blipFill>
        <p:spPr>
          <a:xfrm>
            <a:off x="4137977" y="3535680"/>
            <a:ext cx="3382645" cy="332232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2508648" y="1237615"/>
            <a:ext cx="4472671" cy="3264535"/>
            <a:chOff x="-86" y="2565"/>
            <a:chExt cx="8599" cy="5141"/>
          </a:xfrm>
        </p:grpSpPr>
        <p:sp>
          <p:nvSpPr>
            <p:cNvPr id="17" name="文本框 16"/>
            <p:cNvSpPr txBox="1"/>
            <p:nvPr/>
          </p:nvSpPr>
          <p:spPr>
            <a:xfrm>
              <a:off x="1266" y="2565"/>
              <a:ext cx="5233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汉仪南宫体简" panose="02010609000101010101" charset="-122"/>
                  <a:ea typeface="汉仪南宫体简" panose="02010609000101010101" charset="-122"/>
                </a:rPr>
                <a:t>数据通信方式</a:t>
              </a:r>
            </a:p>
            <a:p>
              <a:pPr algn="ctr"/>
              <a:endParaRPr lang="zh-CN" altLang="en-US" sz="14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-86" y="3344"/>
              <a:ext cx="8599" cy="4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1. 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按传输方向</a:t>
              </a:r>
            </a:p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- 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单工：单向传输（如广播）</a:t>
              </a:r>
            </a:p>
            <a:p>
              <a:pPr algn="ctr"/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半双工：双向不同时（如对讲机）</a:t>
              </a:r>
            </a:p>
            <a:p>
              <a:pPr algn="ctr"/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全双工：双向同时（如电话）</a:t>
              </a:r>
            </a:p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2. 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按传输方式</a:t>
              </a:r>
            </a:p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串行：逐位传，长距离</a:t>
              </a:r>
            </a:p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 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并行：多位传，短距离</a:t>
              </a:r>
            </a:p>
            <a:p>
              <a:pPr algn="ctr"/>
              <a:r>
                <a:rPr lang="en-US" altLang="zh-CN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3. </a:t>
              </a:r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按同步方式</a:t>
              </a:r>
            </a:p>
            <a:p>
              <a:pPr algn="ctr"/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同步：帧为单位，时钟同步</a:t>
              </a:r>
            </a:p>
            <a:p>
              <a:pPr algn="ctr"/>
              <a:r>
                <a:rPr lang="zh-CN" altLang="en-US" sz="14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异步：字符为单位，带起止位</a:t>
              </a:r>
            </a:p>
            <a:p>
              <a:pPr algn="ctr"/>
              <a:endPara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  <a:p>
              <a:pPr algn="ctr"/>
              <a:endPara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</p:grpSp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3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 rot="2100000">
            <a:off x="-708660" y="5340350"/>
            <a:ext cx="2908935" cy="2039620"/>
            <a:chOff x="4392" y="3660"/>
            <a:chExt cx="2054" cy="1440"/>
          </a:xfrm>
        </p:grpSpPr>
        <p:sp>
          <p:nvSpPr>
            <p:cNvPr id="50" name="椭圆 49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4656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5712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4891" y="4380"/>
              <a:ext cx="1056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椭圆 27"/>
          <p:cNvSpPr/>
          <p:nvPr/>
        </p:nvSpPr>
        <p:spPr>
          <a:xfrm>
            <a:off x="4089986" y="563880"/>
            <a:ext cx="958215" cy="958215"/>
          </a:xfrm>
          <a:prstGeom prst="ellipse">
            <a:avLst/>
          </a:prstGeom>
          <a:solidFill>
            <a:srgbClr val="FDF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9E000E"/>
                </a:solidFill>
              </a:rPr>
              <a:t>02</a:t>
            </a:r>
          </a:p>
        </p:txBody>
      </p:sp>
      <p:sp>
        <p:nvSpPr>
          <p:cNvPr id="37" name="椭圆 36"/>
          <p:cNvSpPr/>
          <p:nvPr/>
        </p:nvSpPr>
        <p:spPr>
          <a:xfrm>
            <a:off x="1128587" y="1698690"/>
            <a:ext cx="958215" cy="958215"/>
          </a:xfrm>
          <a:prstGeom prst="ellipse">
            <a:avLst/>
          </a:prstGeom>
          <a:solidFill>
            <a:srgbClr val="FDF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9E000E"/>
                </a:solidFill>
              </a:rPr>
              <a:t>01</a:t>
            </a:r>
          </a:p>
        </p:txBody>
      </p:sp>
      <p:sp>
        <p:nvSpPr>
          <p:cNvPr id="31" name="椭圆 30"/>
          <p:cNvSpPr/>
          <p:nvPr/>
        </p:nvSpPr>
        <p:spPr>
          <a:xfrm>
            <a:off x="7204526" y="543896"/>
            <a:ext cx="958215" cy="958215"/>
          </a:xfrm>
          <a:prstGeom prst="ellipse">
            <a:avLst/>
          </a:prstGeom>
          <a:solidFill>
            <a:srgbClr val="FDF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>
                <a:solidFill>
                  <a:srgbClr val="9E000E"/>
                </a:solidFill>
              </a:rPr>
              <a:t>03</a:t>
            </a:r>
          </a:p>
        </p:txBody>
      </p:sp>
      <p:sp>
        <p:nvSpPr>
          <p:cNvPr id="34" name="椭圆 33"/>
          <p:cNvSpPr/>
          <p:nvPr/>
        </p:nvSpPr>
        <p:spPr>
          <a:xfrm>
            <a:off x="10379754" y="1698689"/>
            <a:ext cx="958215" cy="958215"/>
          </a:xfrm>
          <a:prstGeom prst="ellipse">
            <a:avLst/>
          </a:prstGeom>
          <a:solidFill>
            <a:srgbClr val="FDF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>
                <a:solidFill>
                  <a:srgbClr val="9E000E"/>
                </a:solidFill>
              </a:rPr>
              <a:t>04</a:t>
            </a:r>
          </a:p>
        </p:txBody>
      </p:sp>
      <p:sp>
        <p:nvSpPr>
          <p:cNvPr id="55" name="任意多边形 54"/>
          <p:cNvSpPr/>
          <p:nvPr/>
        </p:nvSpPr>
        <p:spPr>
          <a:xfrm>
            <a:off x="2551814" y="2079728"/>
            <a:ext cx="1467293" cy="2328531"/>
          </a:xfrm>
          <a:custGeom>
            <a:avLst/>
            <a:gdLst>
              <a:gd name="connsiteX0" fmla="*/ 0 w 1467293"/>
              <a:gd name="connsiteY0" fmla="*/ 0 h 2328531"/>
              <a:gd name="connsiteX1" fmla="*/ 1467293 w 1467293"/>
              <a:gd name="connsiteY1" fmla="*/ 2328531 h 2328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7293" h="2328531">
                <a:moveTo>
                  <a:pt x="0" y="0"/>
                </a:moveTo>
                <a:lnTo>
                  <a:pt x="1467293" y="2328531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/>
        </p:nvSpPr>
        <p:spPr>
          <a:xfrm flipH="1">
            <a:off x="8186444" y="2079728"/>
            <a:ext cx="1467293" cy="2328531"/>
          </a:xfrm>
          <a:custGeom>
            <a:avLst/>
            <a:gdLst>
              <a:gd name="connsiteX0" fmla="*/ 0 w 1467293"/>
              <a:gd name="connsiteY0" fmla="*/ 0 h 2328531"/>
              <a:gd name="connsiteX1" fmla="*/ 1467293 w 1467293"/>
              <a:gd name="connsiteY1" fmla="*/ 2328531 h 2328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7293" h="2328531">
                <a:moveTo>
                  <a:pt x="0" y="0"/>
                </a:moveTo>
                <a:lnTo>
                  <a:pt x="1467293" y="2328531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 56"/>
          <p:cNvSpPr/>
          <p:nvPr/>
        </p:nvSpPr>
        <p:spPr>
          <a:xfrm>
            <a:off x="6103088" y="888882"/>
            <a:ext cx="0" cy="2307265"/>
          </a:xfrm>
          <a:custGeom>
            <a:avLst/>
            <a:gdLst>
              <a:gd name="connsiteX0" fmla="*/ 0 w 0"/>
              <a:gd name="connsiteY0" fmla="*/ 0 h 2307265"/>
              <a:gd name="connsiteX1" fmla="*/ 0 w 0"/>
              <a:gd name="connsiteY1" fmla="*/ 2307265 h 230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307265">
                <a:moveTo>
                  <a:pt x="0" y="0"/>
                </a:moveTo>
                <a:lnTo>
                  <a:pt x="0" y="2307265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 57"/>
          <p:cNvSpPr/>
          <p:nvPr/>
        </p:nvSpPr>
        <p:spPr>
          <a:xfrm>
            <a:off x="818706" y="5359873"/>
            <a:ext cx="2466754" cy="0"/>
          </a:xfrm>
          <a:custGeom>
            <a:avLst/>
            <a:gdLst>
              <a:gd name="connsiteX0" fmla="*/ 0 w 2466754"/>
              <a:gd name="connsiteY0" fmla="*/ 0 h 0"/>
              <a:gd name="connsiteX1" fmla="*/ 2466754 w 246675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66754">
                <a:moveTo>
                  <a:pt x="0" y="0"/>
                </a:moveTo>
                <a:lnTo>
                  <a:pt x="2466754" y="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>
            <a:off x="8846437" y="5390760"/>
            <a:ext cx="2466754" cy="0"/>
          </a:xfrm>
          <a:custGeom>
            <a:avLst/>
            <a:gdLst>
              <a:gd name="connsiteX0" fmla="*/ 0 w 2466754"/>
              <a:gd name="connsiteY0" fmla="*/ 0 h 0"/>
              <a:gd name="connsiteX1" fmla="*/ 2466754 w 246675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66754">
                <a:moveTo>
                  <a:pt x="0" y="0"/>
                </a:moveTo>
                <a:lnTo>
                  <a:pt x="2466754" y="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890" y="2335530"/>
            <a:ext cx="12511405" cy="3596005"/>
            <a:chOff x="1211" y="1771"/>
            <a:chExt cx="19703" cy="5663"/>
          </a:xfrm>
        </p:grpSpPr>
        <p:sp>
          <p:nvSpPr>
            <p:cNvPr id="15" name="文本框 14"/>
            <p:cNvSpPr txBox="1"/>
            <p:nvPr/>
          </p:nvSpPr>
          <p:spPr>
            <a:xfrm>
              <a:off x="1211" y="1864"/>
              <a:ext cx="5233" cy="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0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汉仪南宫体简" panose="02010609000101010101" charset="-122"/>
                  <a:ea typeface="汉仪南宫体简" panose="02010609000101010101" charset="-122"/>
                </a:rPr>
                <a:t>数据通信系统</a:t>
              </a:r>
              <a:endParaRPr lang="en-US" altLang="zh-CN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endParaRPr>
            </a:p>
            <a:p>
              <a:pPr algn="ctr"/>
              <a:endParaRPr lang="zh-CN" altLang="en-US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endParaRPr>
            </a:p>
            <a:p>
              <a:pPr algn="ctr"/>
              <a:endParaRPr lang="zh-CN" altLang="en-US" sz="12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74" y="2829"/>
              <a:ext cx="5608" cy="4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数据通信系统是通过传输介质和通信设备，实现不同设备间数据传输、交换与处理的系统。</a:t>
              </a:r>
            </a:p>
            <a:p>
              <a:pPr algn="ctr"/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核心组成：数据源（产生数据）、传输介质（有线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/</a:t>
              </a:r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无线）、通信设备（路由器、交换机）、数据宿（接收数据），可完成数据的编码、传输、解码、校验等环节。</a:t>
              </a:r>
            </a:p>
            <a:p>
              <a:pPr algn="ctr"/>
              <a:endParaRPr lang="en-US" altLang="zh-CN" sz="2000" dirty="0"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  <a:p>
              <a:pPr algn="ctr"/>
              <a:endPara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5681" y="1771"/>
              <a:ext cx="5233" cy="1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0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endParaRPr>
            </a:p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汉仪南宫体简" panose="02010609000101010101" charset="-122"/>
                  <a:ea typeface="汉仪南宫体简" panose="02010609000101010101" charset="-122"/>
                </a:rPr>
                <a:t>差错控制技术</a:t>
              </a:r>
            </a:p>
            <a:p>
              <a:pPr algn="ctr"/>
              <a:endParaRPr lang="zh-CN" altLang="en-US" sz="12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4869" y="3126"/>
              <a:ext cx="5451" cy="3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1. 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检错编码：添加冗余码，仅能检测错误（如奇偶校验、</a:t>
              </a:r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CRC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）</a:t>
              </a: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2. 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纠错编码：可自动纠正少量错误（如海明码、卷积码）</a:t>
              </a: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3. 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反馈重发：检错后要求重发数据（如</a:t>
              </a:r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ARQ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协议）</a:t>
              </a:r>
            </a:p>
            <a:p>
              <a:pPr algn="ctr"/>
              <a:endPara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  <a:p>
              <a:pPr algn="ctr"/>
              <a:endPara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199211" y="1353820"/>
            <a:ext cx="2835275" cy="2257425"/>
            <a:chOff x="1374" y="2748"/>
            <a:chExt cx="5451" cy="3555"/>
          </a:xfrm>
        </p:grpSpPr>
        <p:sp>
          <p:nvSpPr>
            <p:cNvPr id="21" name="文本框 20"/>
            <p:cNvSpPr txBox="1"/>
            <p:nvPr/>
          </p:nvSpPr>
          <p:spPr>
            <a:xfrm>
              <a:off x="1515" y="2748"/>
              <a:ext cx="5233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汉仪南宫体简" panose="02010609000101010101" charset="-122"/>
                  <a:ea typeface="汉仪南宫体简" panose="02010609000101010101" charset="-122"/>
                </a:rPr>
                <a:t>数据交换技术</a:t>
              </a:r>
            </a:p>
            <a:p>
              <a:pPr algn="ctr"/>
              <a:endParaRPr lang="zh-CN" altLang="en-US" sz="14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374" y="3637"/>
              <a:ext cx="5451" cy="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1. </a:t>
              </a:r>
              <a:r>
                <a:rPr lang="zh-CN" alt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电路交换：建立专用物理通路，实时性强（如电话）</a:t>
              </a:r>
            </a:p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2. </a:t>
              </a:r>
              <a:r>
                <a:rPr lang="zh-CN" alt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报文交换：存储</a:t>
              </a:r>
              <a:r>
                <a:rPr lang="en-US" altLang="zh-CN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-</a:t>
              </a:r>
              <a:r>
                <a:rPr lang="zh-CN" alt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转发，以报文为单位，无需专用通路</a:t>
              </a:r>
            </a:p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3. </a:t>
              </a:r>
              <a:r>
                <a:rPr lang="zh-CN" alt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分组交换：拆分报文为分组传输，高效灵活（如网络通信）</a:t>
              </a:r>
              <a:endPara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  <a:p>
              <a:pPr algn="ctr"/>
              <a:endPara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汉仪南宫体简" panose="02010609000101010101" charset="-122"/>
                <a:cs typeface="Arial" panose="020B0604020202020204" pitchFamily="34" charset="0"/>
                <a:sym typeface="+mn-ea"/>
              </a:endParaRPr>
            </a:p>
          </p:txBody>
        </p:sp>
      </p:grpSp>
      <p:pic>
        <p:nvPicPr>
          <p:cNvPr id="2" name="图片 1" descr="9a1f5deead3f052a9b0ffba7c678cefe">
            <a:extLst>
              <a:ext uri="{FF2B5EF4-FFF2-40B4-BE49-F238E27FC236}">
                <a16:creationId xmlns:a16="http://schemas.microsoft.com/office/drawing/2014/main" id="{2C6D9585-9964-169E-F8B6-E9A67569DEE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18000" contrast="30000"/>
          </a:blip>
          <a:srcRect t="72302" r="65194"/>
          <a:stretch>
            <a:fillRect/>
          </a:stretch>
        </p:blipFill>
        <p:spPr>
          <a:xfrm flipH="1">
            <a:off x="133270" y="119380"/>
            <a:ext cx="1759585" cy="7874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470D16-5A14-8A14-3F53-3B7A3EFD99B7}"/>
              </a:ext>
            </a:extLst>
          </p:cNvPr>
          <p:cNvSpPr txBox="1"/>
          <p:nvPr/>
        </p:nvSpPr>
        <p:spPr>
          <a:xfrm>
            <a:off x="1799959" y="251509"/>
            <a:ext cx="294497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数据通信技术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903980" y="1892300"/>
            <a:ext cx="4384040" cy="3074035"/>
            <a:chOff x="4392" y="3660"/>
            <a:chExt cx="2054" cy="1440"/>
          </a:xfrm>
        </p:grpSpPr>
        <p:sp>
          <p:nvSpPr>
            <p:cNvPr id="9" name="椭圆 8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rgbClr val="FDFBEE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667" y="4487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723" y="4487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941" y="4779"/>
              <a:ext cx="105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4734088" y="2953760"/>
            <a:ext cx="27238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操作系统与常用工具软件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334635" y="2213610"/>
            <a:ext cx="152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rgbClr val="9E000E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Part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24990" y="409641"/>
            <a:ext cx="2124841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操作系统</a:t>
            </a:r>
          </a:p>
        </p:txBody>
      </p:sp>
      <p:pic>
        <p:nvPicPr>
          <p:cNvPr id="3" name="图片 2" descr="9a1f5deead3f052a9b0ffba7c678cefe"/>
          <p:cNvPicPr>
            <a:picLocks noChangeAspect="1"/>
          </p:cNvPicPr>
          <p:nvPr/>
        </p:nvPicPr>
        <p:blipFill>
          <a:blip r:embed="rId3">
            <a:lum bright="-18000" contrast="30000"/>
          </a:blip>
          <a:srcRect t="72302" r="65194"/>
          <a:stretch>
            <a:fillRect/>
          </a:stretch>
        </p:blipFill>
        <p:spPr>
          <a:xfrm flipH="1">
            <a:off x="65405" y="290830"/>
            <a:ext cx="1759585" cy="78740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 rot="2100000">
            <a:off x="-708660" y="5340350"/>
            <a:ext cx="2908935" cy="2039620"/>
            <a:chOff x="4392" y="3660"/>
            <a:chExt cx="2054" cy="1440"/>
          </a:xfrm>
        </p:grpSpPr>
        <p:sp>
          <p:nvSpPr>
            <p:cNvPr id="50" name="椭圆 49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4656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5712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4891" y="4380"/>
              <a:ext cx="1056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圆角矩形 12">
            <a:extLst>
              <a:ext uri="{FF2B5EF4-FFF2-40B4-BE49-F238E27FC236}">
                <a16:creationId xmlns:a16="http://schemas.microsoft.com/office/drawing/2014/main" id="{8AE555CF-05F9-B099-0AFE-83BC30C14D2F}"/>
              </a:ext>
            </a:extLst>
          </p:cNvPr>
          <p:cNvSpPr/>
          <p:nvPr/>
        </p:nvSpPr>
        <p:spPr>
          <a:xfrm>
            <a:off x="238988" y="1420867"/>
            <a:ext cx="11714023" cy="4475357"/>
          </a:xfrm>
          <a:prstGeom prst="roundRect">
            <a:avLst>
              <a:gd name="adj" fmla="val 50000"/>
            </a:avLst>
          </a:prstGeom>
          <a:solidFill>
            <a:srgbClr val="FDFBE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9E000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47571B-158D-F27E-ABCB-34AC33EB938C}"/>
              </a:ext>
            </a:extLst>
          </p:cNvPr>
          <p:cNvSpPr txBox="1"/>
          <p:nvPr/>
        </p:nvSpPr>
        <p:spPr>
          <a:xfrm>
            <a:off x="2213393" y="1510472"/>
            <a:ext cx="134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概述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978E40-EA79-9B07-BAF8-5956439492C5}"/>
              </a:ext>
            </a:extLst>
          </p:cNvPr>
          <p:cNvSpPr txBox="1"/>
          <p:nvPr/>
        </p:nvSpPr>
        <p:spPr>
          <a:xfrm>
            <a:off x="5833864" y="1510472"/>
            <a:ext cx="134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简介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951C00A-7A03-C11A-28F3-AD18DE39A53D}"/>
              </a:ext>
            </a:extLst>
          </p:cNvPr>
          <p:cNvSpPr txBox="1"/>
          <p:nvPr/>
        </p:nvSpPr>
        <p:spPr>
          <a:xfrm>
            <a:off x="8547249" y="1575616"/>
            <a:ext cx="134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发展史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2ACBBF-C1C9-07BF-B765-9B5E052266F9}"/>
              </a:ext>
            </a:extLst>
          </p:cNvPr>
          <p:cNvSpPr txBox="1"/>
          <p:nvPr/>
        </p:nvSpPr>
        <p:spPr>
          <a:xfrm>
            <a:off x="1150070" y="2139885"/>
            <a:ext cx="2950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管理计算机软硬件资源、控制程序执行，为用户和应用程序提供接口的系统软件核心。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2319479-6D7F-1BD6-D957-F6E14D6D2AE1}"/>
              </a:ext>
            </a:extLst>
          </p:cNvPr>
          <p:cNvSpPr txBox="1"/>
          <p:nvPr/>
        </p:nvSpPr>
        <p:spPr>
          <a:xfrm>
            <a:off x="5128181" y="1926095"/>
            <a:ext cx="21587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操作系统是管理计算机软硬件资源、协调程序运行的核心系统软件，为用户和应用提供交互接口，常见类型有</a:t>
            </a:r>
            <a:r>
              <a:rPr lang="en-US" altLang="zh-CN"/>
              <a:t>Windows</a:t>
            </a:r>
            <a:r>
              <a:rPr lang="zh-CN" altLang="en-US"/>
              <a:t>、</a:t>
            </a:r>
            <a:r>
              <a:rPr lang="en-US" altLang="zh-CN"/>
              <a:t>macOS</a:t>
            </a:r>
            <a:r>
              <a:rPr lang="zh-CN" altLang="en-US"/>
              <a:t>、</a:t>
            </a:r>
            <a:r>
              <a:rPr lang="en-US" altLang="zh-CN"/>
              <a:t>Linux</a:t>
            </a:r>
            <a:r>
              <a:rPr lang="zh-CN" altLang="en-US"/>
              <a:t>等。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1F96B97-D23B-1273-CB96-61D4561F8491}"/>
              </a:ext>
            </a:extLst>
          </p:cNvPr>
          <p:cNvSpPr txBox="1"/>
          <p:nvPr/>
        </p:nvSpPr>
        <p:spPr>
          <a:xfrm>
            <a:off x="8210745" y="1944948"/>
            <a:ext cx="300427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 1985-1993 </a:t>
            </a:r>
            <a:r>
              <a:rPr lang="zh-CN" altLang="en-US" dirty="0"/>
              <a:t>图形化起步</a:t>
            </a:r>
          </a:p>
          <a:p>
            <a:r>
              <a:rPr lang="en-US" altLang="zh-CN" dirty="0"/>
              <a:t>Win1.0</a:t>
            </a:r>
            <a:r>
              <a:rPr lang="zh-CN" altLang="en-US" dirty="0"/>
              <a:t>：</a:t>
            </a:r>
            <a:r>
              <a:rPr lang="en-US" altLang="zh-CN" dirty="0"/>
              <a:t>DOS</a:t>
            </a:r>
            <a:r>
              <a:rPr lang="zh-CN" altLang="en-US" dirty="0"/>
              <a:t>图形扩展；</a:t>
            </a:r>
            <a:r>
              <a:rPr lang="en-US" altLang="zh-CN" dirty="0"/>
              <a:t>Win3.0</a:t>
            </a:r>
            <a:r>
              <a:rPr lang="zh-CN" altLang="en-US" dirty="0"/>
              <a:t>：</a:t>
            </a:r>
            <a:r>
              <a:rPr lang="en-US" altLang="zh-CN" dirty="0"/>
              <a:t>256</a:t>
            </a:r>
            <a:r>
              <a:rPr lang="zh-CN" altLang="en-US" dirty="0"/>
              <a:t>色</a:t>
            </a:r>
            <a:r>
              <a:rPr lang="en-US" altLang="zh-CN" dirty="0"/>
              <a:t>+</a:t>
            </a:r>
            <a:r>
              <a:rPr lang="zh-CN" altLang="en-US" dirty="0"/>
              <a:t>多媒体；</a:t>
            </a:r>
            <a:r>
              <a:rPr lang="en-US" altLang="zh-CN" dirty="0"/>
              <a:t>Win NT3.1</a:t>
            </a:r>
            <a:r>
              <a:rPr lang="zh-CN" altLang="en-US" dirty="0"/>
              <a:t>：</a:t>
            </a:r>
            <a:r>
              <a:rPr lang="en-US" altLang="zh-CN" dirty="0"/>
              <a:t>32</a:t>
            </a:r>
            <a:r>
              <a:rPr lang="zh-CN" altLang="en-US" dirty="0"/>
              <a:t>位企业内核</a:t>
            </a:r>
          </a:p>
          <a:p>
            <a:r>
              <a:rPr lang="en-US" altLang="zh-CN" dirty="0"/>
              <a:t>2. 1995-2001 </a:t>
            </a:r>
            <a:r>
              <a:rPr lang="zh-CN" altLang="en-US" dirty="0"/>
              <a:t>桌面普及</a:t>
            </a:r>
          </a:p>
          <a:p>
            <a:r>
              <a:rPr lang="en-US" altLang="zh-CN" dirty="0"/>
              <a:t>Win95</a:t>
            </a:r>
            <a:r>
              <a:rPr lang="zh-CN" altLang="en-US" dirty="0"/>
              <a:t>：开始菜单</a:t>
            </a:r>
            <a:r>
              <a:rPr lang="en-US" altLang="zh-CN" dirty="0"/>
              <a:t>+IE</a:t>
            </a:r>
            <a:r>
              <a:rPr lang="zh-CN" altLang="en-US" dirty="0"/>
              <a:t>；</a:t>
            </a:r>
            <a:r>
              <a:rPr lang="en-US" altLang="zh-CN" dirty="0"/>
              <a:t>Win XP</a:t>
            </a:r>
            <a:r>
              <a:rPr lang="zh-CN" altLang="en-US" dirty="0"/>
              <a:t>：统一内核，经典款</a:t>
            </a:r>
          </a:p>
          <a:p>
            <a:r>
              <a:rPr lang="en-US" altLang="zh-CN" dirty="0"/>
              <a:t>3. 2006-2015 </a:t>
            </a:r>
            <a:r>
              <a:rPr lang="zh-CN" altLang="en-US" dirty="0"/>
              <a:t>双内核统一</a:t>
            </a:r>
          </a:p>
          <a:p>
            <a:r>
              <a:rPr lang="en-US" altLang="zh-CN" dirty="0"/>
              <a:t> Win7</a:t>
            </a:r>
            <a:r>
              <a:rPr lang="zh-CN" altLang="en-US" dirty="0"/>
              <a:t>：流畅标杆；</a:t>
            </a:r>
            <a:r>
              <a:rPr lang="en-US" altLang="zh-CN" dirty="0"/>
              <a:t>Win10</a:t>
            </a:r>
            <a:r>
              <a:rPr lang="zh-CN" altLang="en-US" dirty="0"/>
              <a:t>：开始菜单回归</a:t>
            </a:r>
            <a:r>
              <a:rPr lang="en-US" altLang="zh-CN" dirty="0"/>
              <a:t>+</a:t>
            </a:r>
            <a:r>
              <a:rPr lang="zh-CN" altLang="en-US" dirty="0"/>
              <a:t>持续更新</a:t>
            </a:r>
          </a:p>
          <a:p>
            <a:r>
              <a:rPr lang="en-US" altLang="zh-CN" dirty="0"/>
              <a:t>4. 2021-</a:t>
            </a:r>
            <a:r>
              <a:rPr lang="zh-CN" altLang="en-US" dirty="0"/>
              <a:t>至今 现代体验</a:t>
            </a:r>
          </a:p>
          <a:p>
            <a:r>
              <a:rPr lang="en-US" altLang="zh-CN" dirty="0"/>
              <a:t>Win11</a:t>
            </a:r>
            <a:r>
              <a:rPr lang="zh-CN" altLang="en-US" dirty="0"/>
              <a:t>：圆角</a:t>
            </a:r>
            <a:r>
              <a:rPr lang="en-US" altLang="zh-CN" dirty="0"/>
              <a:t>UI+</a:t>
            </a:r>
            <a:r>
              <a:rPr lang="zh-CN" altLang="en-US" dirty="0"/>
              <a:t>安卓兼容</a:t>
            </a:r>
            <a:r>
              <a:rPr lang="en-US" altLang="zh-CN" dirty="0"/>
              <a:t>+TPM 2.0</a:t>
            </a:r>
            <a:r>
              <a:rPr lang="zh-CN" altLang="en-US" dirty="0"/>
              <a:t>要求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 rot="2100000">
            <a:off x="-708660" y="5340350"/>
            <a:ext cx="2908935" cy="2039620"/>
            <a:chOff x="4392" y="3660"/>
            <a:chExt cx="2054" cy="1440"/>
          </a:xfrm>
        </p:grpSpPr>
        <p:sp>
          <p:nvSpPr>
            <p:cNvPr id="50" name="椭圆 49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4656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5712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4891" y="4380"/>
              <a:ext cx="1056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6415405" y="3841750"/>
            <a:ext cx="975360" cy="975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76000B"/>
                </a:solidFill>
              </a:rPr>
              <a:t>03</a:t>
            </a:r>
          </a:p>
        </p:txBody>
      </p:sp>
      <p:sp>
        <p:nvSpPr>
          <p:cNvPr id="3" name="矩形 2"/>
          <p:cNvSpPr/>
          <p:nvPr/>
        </p:nvSpPr>
        <p:spPr>
          <a:xfrm>
            <a:off x="4954905" y="2206625"/>
            <a:ext cx="975360" cy="975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76000B"/>
                </a:solidFill>
              </a:rPr>
              <a:t>01</a:t>
            </a:r>
          </a:p>
        </p:txBody>
      </p:sp>
      <p:pic>
        <p:nvPicPr>
          <p:cNvPr id="14" name="图片 13" descr="46b8f93d84c3b3bd3b03f83439c440bb"/>
          <p:cNvPicPr>
            <a:picLocks noChangeAspect="1"/>
          </p:cNvPicPr>
          <p:nvPr/>
        </p:nvPicPr>
        <p:blipFill>
          <a:blip r:embed="rId3">
            <a:lum bright="-18000" contrast="30000"/>
          </a:blip>
          <a:stretch>
            <a:fillRect/>
          </a:stretch>
        </p:blipFill>
        <p:spPr>
          <a:xfrm>
            <a:off x="5930265" y="1680845"/>
            <a:ext cx="1731645" cy="1731645"/>
          </a:xfrm>
          <a:prstGeom prst="rect">
            <a:avLst/>
          </a:prstGeom>
        </p:spPr>
      </p:pic>
      <p:sp>
        <p:nvSpPr>
          <p:cNvPr id="36" name="稻壳儿春秋广告/盗版必究        原创来源：http://chn.docer.com/works?userid=199329941#!/work_time"/>
          <p:cNvSpPr/>
          <p:nvPr/>
        </p:nvSpPr>
        <p:spPr bwMode="auto">
          <a:xfrm>
            <a:off x="11446510" y="5718810"/>
            <a:ext cx="190500" cy="284480"/>
          </a:xfrm>
          <a:custGeom>
            <a:avLst/>
            <a:gdLst>
              <a:gd name="T0" fmla="*/ 68 w 97"/>
              <a:gd name="T1" fmla="*/ 87 h 145"/>
              <a:gd name="T2" fmla="*/ 68 w 97"/>
              <a:gd name="T3" fmla="*/ 0 h 145"/>
              <a:gd name="T4" fmla="*/ 29 w 97"/>
              <a:gd name="T5" fmla="*/ 0 h 145"/>
              <a:gd name="T6" fmla="*/ 29 w 97"/>
              <a:gd name="T7" fmla="*/ 87 h 145"/>
              <a:gd name="T8" fmla="*/ 0 w 97"/>
              <a:gd name="T9" fmla="*/ 87 h 145"/>
              <a:gd name="T10" fmla="*/ 49 w 97"/>
              <a:gd name="T11" fmla="*/ 145 h 145"/>
              <a:gd name="T12" fmla="*/ 97 w 97"/>
              <a:gd name="T13" fmla="*/ 87 h 145"/>
              <a:gd name="T14" fmla="*/ 68 w 97"/>
              <a:gd name="T15" fmla="*/ 8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7" h="145">
                <a:moveTo>
                  <a:pt x="68" y="87"/>
                </a:moveTo>
                <a:lnTo>
                  <a:pt x="68" y="0"/>
                </a:lnTo>
                <a:lnTo>
                  <a:pt x="29" y="0"/>
                </a:lnTo>
                <a:lnTo>
                  <a:pt x="29" y="87"/>
                </a:lnTo>
                <a:lnTo>
                  <a:pt x="0" y="87"/>
                </a:lnTo>
                <a:lnTo>
                  <a:pt x="49" y="145"/>
                </a:lnTo>
                <a:lnTo>
                  <a:pt x="97" y="87"/>
                </a:lnTo>
                <a:lnTo>
                  <a:pt x="68" y="87"/>
                </a:lnTo>
                <a:close/>
              </a:path>
            </a:pathLst>
          </a:custGeom>
          <a:solidFill>
            <a:srgbClr val="FDFB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23209" y="4171245"/>
            <a:ext cx="2804160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3. 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对话框：有标题栏（仅关闭按钮）、选项区域（复选框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单选按钮等控件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+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命令按钮）、提示信息区，用于交互设置。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</a:p>
        </p:txBody>
      </p:sp>
      <p:sp>
        <p:nvSpPr>
          <p:cNvPr id="6" name="稻壳儿春秋广告/盗版必究        原创来源：http://chn.docer.com/works?userid=199329941#!/work_time"/>
          <p:cNvSpPr/>
          <p:nvPr/>
        </p:nvSpPr>
        <p:spPr bwMode="auto">
          <a:xfrm>
            <a:off x="5508625" y="3011170"/>
            <a:ext cx="190500" cy="284480"/>
          </a:xfrm>
          <a:custGeom>
            <a:avLst/>
            <a:gdLst>
              <a:gd name="T0" fmla="*/ 68 w 97"/>
              <a:gd name="T1" fmla="*/ 87 h 145"/>
              <a:gd name="T2" fmla="*/ 68 w 97"/>
              <a:gd name="T3" fmla="*/ 0 h 145"/>
              <a:gd name="T4" fmla="*/ 29 w 97"/>
              <a:gd name="T5" fmla="*/ 0 h 145"/>
              <a:gd name="T6" fmla="*/ 29 w 97"/>
              <a:gd name="T7" fmla="*/ 87 h 145"/>
              <a:gd name="T8" fmla="*/ 0 w 97"/>
              <a:gd name="T9" fmla="*/ 87 h 145"/>
              <a:gd name="T10" fmla="*/ 49 w 97"/>
              <a:gd name="T11" fmla="*/ 145 h 145"/>
              <a:gd name="T12" fmla="*/ 97 w 97"/>
              <a:gd name="T13" fmla="*/ 87 h 145"/>
              <a:gd name="T14" fmla="*/ 68 w 97"/>
              <a:gd name="T15" fmla="*/ 8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7" h="145">
                <a:moveTo>
                  <a:pt x="68" y="87"/>
                </a:moveTo>
                <a:lnTo>
                  <a:pt x="68" y="0"/>
                </a:lnTo>
                <a:lnTo>
                  <a:pt x="29" y="0"/>
                </a:lnTo>
                <a:lnTo>
                  <a:pt x="29" y="87"/>
                </a:lnTo>
                <a:lnTo>
                  <a:pt x="0" y="87"/>
                </a:lnTo>
                <a:lnTo>
                  <a:pt x="49" y="145"/>
                </a:lnTo>
                <a:lnTo>
                  <a:pt x="97" y="87"/>
                </a:lnTo>
                <a:lnTo>
                  <a:pt x="68" y="87"/>
                </a:lnTo>
                <a:close/>
              </a:path>
            </a:pathLst>
          </a:custGeom>
          <a:solidFill>
            <a:srgbClr val="FDFB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31645" y="1857856"/>
            <a:ext cx="2804160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1. 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桌面：由图标（系统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快捷方式）、任务栏（开始按钮、通知区等）、开始菜单（应用列表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+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磁贴）、自定义背景构成，是操作入口。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72542" y="1575582"/>
            <a:ext cx="242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Windows 10 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桌面</a:t>
            </a:r>
          </a:p>
          <a:p>
            <a:pPr algn="ctr"/>
            <a:endParaRPr lang="zh-CN" altLang="en-US" sz="1200" dirty="0">
              <a:solidFill>
                <a:schemeClr val="bg1"/>
              </a:solidFill>
              <a:latin typeface="汉仪南宫体简" panose="02010609000101010101" charset="-122"/>
              <a:ea typeface="汉仪南宫体简" panose="0201060900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D5B22F-9C44-B55F-F7FA-DC4D04A6E714}"/>
              </a:ext>
            </a:extLst>
          </p:cNvPr>
          <p:cNvSpPr/>
          <p:nvPr/>
        </p:nvSpPr>
        <p:spPr>
          <a:xfrm>
            <a:off x="4980940" y="3841750"/>
            <a:ext cx="975360" cy="975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76000B"/>
                </a:solidFill>
              </a:rPr>
              <a:t>02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3422AB-7508-7C4C-3D2C-9D2A50A6BBEF}"/>
              </a:ext>
            </a:extLst>
          </p:cNvPr>
          <p:cNvSpPr txBox="1"/>
          <p:nvPr/>
        </p:nvSpPr>
        <p:spPr>
          <a:xfrm>
            <a:off x="1892777" y="3889747"/>
            <a:ext cx="242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Windows 10 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窗口</a:t>
            </a:r>
          </a:p>
          <a:p>
            <a:pPr algn="ctr"/>
            <a:endParaRPr lang="zh-CN" altLang="en-US" sz="1200" dirty="0">
              <a:solidFill>
                <a:schemeClr val="bg1"/>
              </a:solidFill>
              <a:latin typeface="汉仪南宫体简" panose="02010609000101010101" charset="-122"/>
              <a:ea typeface="汉仪南宫体简" panose="0201060900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816E37-C5A8-07EE-A2BE-41F819C77C02}"/>
              </a:ext>
            </a:extLst>
          </p:cNvPr>
          <p:cNvSpPr txBox="1"/>
          <p:nvPr/>
        </p:nvSpPr>
        <p:spPr>
          <a:xfrm>
            <a:off x="1664631" y="4252932"/>
            <a:ext cx="2804160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2. 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窗口：含标题栏（控制按钮）、菜单栏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功能区、工作区、滚动条、状态栏，边框可调整大小，支持贴靠分屏。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EA0EDB-A850-D4ED-B7B9-756B542EEA1E}"/>
              </a:ext>
            </a:extLst>
          </p:cNvPr>
          <p:cNvSpPr txBox="1"/>
          <p:nvPr/>
        </p:nvSpPr>
        <p:spPr>
          <a:xfrm>
            <a:off x="7849870" y="3806210"/>
            <a:ext cx="242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Windows 10 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对话框</a:t>
            </a:r>
          </a:p>
          <a:p>
            <a:pPr algn="ctr"/>
            <a:endParaRPr lang="zh-CN" altLang="en-US" sz="1200" dirty="0">
              <a:solidFill>
                <a:schemeClr val="bg1"/>
              </a:solidFill>
              <a:latin typeface="汉仪南宫体简" panose="02010609000101010101" charset="-122"/>
              <a:ea typeface="汉仪南宫体简" panose="02010609000101010101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903980" y="1892300"/>
            <a:ext cx="4384040" cy="3074035"/>
            <a:chOff x="4392" y="3660"/>
            <a:chExt cx="2054" cy="1440"/>
          </a:xfrm>
        </p:grpSpPr>
        <p:sp>
          <p:nvSpPr>
            <p:cNvPr id="9" name="椭圆 8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rgbClr val="FDFBEE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667" y="4487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723" y="4487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941" y="4779"/>
              <a:ext cx="105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5279176" y="3076963"/>
            <a:ext cx="171906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dirty="0">
                <a:solidFill>
                  <a:srgbClr val="9E000E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办公利器</a:t>
            </a:r>
            <a:r>
              <a:rPr lang="en-US" altLang="zh-CN" dirty="0">
                <a:solidFill>
                  <a:srgbClr val="9E000E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office</a:t>
            </a:r>
            <a:endParaRPr lang="zh-CN" altLang="en-US" dirty="0">
              <a:solidFill>
                <a:srgbClr val="9E000E"/>
              </a:solidFill>
              <a:latin typeface="方正兰亭细黑_GBK" panose="02000000000000000000" charset="-122"/>
              <a:ea typeface="方正兰亭细黑_GBK" panose="020000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34635" y="2213610"/>
            <a:ext cx="152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rgbClr val="9E000E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Part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 rot="2100000">
            <a:off x="-708660" y="5340350"/>
            <a:ext cx="2908935" cy="2039620"/>
            <a:chOff x="4392" y="3660"/>
            <a:chExt cx="2054" cy="1440"/>
          </a:xfrm>
        </p:grpSpPr>
        <p:sp>
          <p:nvSpPr>
            <p:cNvPr id="50" name="椭圆 49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4656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5712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4891" y="4380"/>
              <a:ext cx="1056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稻壳儿春秋广告/盗版必究        原创来源：http://chn.docer.com/works?userid=199329941#!/work_time"/>
          <p:cNvSpPr/>
          <p:nvPr/>
        </p:nvSpPr>
        <p:spPr bwMode="auto">
          <a:xfrm flipH="1">
            <a:off x="4745104" y="2163998"/>
            <a:ext cx="1561332" cy="1494418"/>
          </a:xfrm>
          <a:custGeom>
            <a:avLst/>
            <a:gdLst>
              <a:gd name="T0" fmla="*/ 144 w 367"/>
              <a:gd name="T1" fmla="*/ 0 h 351"/>
              <a:gd name="T2" fmla="*/ 0 w 367"/>
              <a:gd name="T3" fmla="*/ 143 h 351"/>
              <a:gd name="T4" fmla="*/ 0 w 367"/>
              <a:gd name="T5" fmla="*/ 351 h 351"/>
              <a:gd name="T6" fmla="*/ 72 w 367"/>
              <a:gd name="T7" fmla="*/ 279 h 351"/>
              <a:gd name="T8" fmla="*/ 224 w 367"/>
              <a:gd name="T9" fmla="*/ 279 h 351"/>
              <a:gd name="T10" fmla="*/ 367 w 367"/>
              <a:gd name="T11" fmla="*/ 136 h 351"/>
              <a:gd name="T12" fmla="*/ 367 w 367"/>
              <a:gd name="T13" fmla="*/ 0 h 351"/>
              <a:gd name="T14" fmla="*/ 144 w 367"/>
              <a:gd name="T15" fmla="*/ 0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7" h="351">
                <a:moveTo>
                  <a:pt x="144" y="0"/>
                </a:moveTo>
                <a:cubicBezTo>
                  <a:pt x="65" y="0"/>
                  <a:pt x="0" y="65"/>
                  <a:pt x="0" y="143"/>
                </a:cubicBezTo>
                <a:cubicBezTo>
                  <a:pt x="0" y="351"/>
                  <a:pt x="0" y="351"/>
                  <a:pt x="0" y="351"/>
                </a:cubicBezTo>
                <a:cubicBezTo>
                  <a:pt x="0" y="311"/>
                  <a:pt x="32" y="279"/>
                  <a:pt x="72" y="279"/>
                </a:cubicBezTo>
                <a:cubicBezTo>
                  <a:pt x="224" y="279"/>
                  <a:pt x="224" y="279"/>
                  <a:pt x="224" y="279"/>
                </a:cubicBezTo>
                <a:cubicBezTo>
                  <a:pt x="303" y="279"/>
                  <a:pt x="367" y="215"/>
                  <a:pt x="367" y="136"/>
                </a:cubicBezTo>
                <a:cubicBezTo>
                  <a:pt x="367" y="0"/>
                  <a:pt x="367" y="0"/>
                  <a:pt x="367" y="0"/>
                </a:cubicBezTo>
                <a:lnTo>
                  <a:pt x="144" y="0"/>
                </a:lnTo>
                <a:close/>
              </a:path>
            </a:pathLst>
          </a:custGeom>
          <a:solidFill>
            <a:srgbClr val="FDFBEE"/>
          </a:solidFill>
          <a:ln w="6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稻壳儿春秋广告/盗版必究        原创来源：http://chn.docer.com/works?userid=199329941#!/work_time"/>
          <p:cNvSpPr/>
          <p:nvPr/>
        </p:nvSpPr>
        <p:spPr bwMode="auto">
          <a:xfrm flipH="1">
            <a:off x="6258361" y="2389777"/>
            <a:ext cx="1494418" cy="1561334"/>
          </a:xfrm>
          <a:custGeom>
            <a:avLst/>
            <a:gdLst>
              <a:gd name="T0" fmla="*/ 279 w 351"/>
              <a:gd name="T1" fmla="*/ 295 h 367"/>
              <a:gd name="T2" fmla="*/ 279 w 351"/>
              <a:gd name="T3" fmla="*/ 143 h 367"/>
              <a:gd name="T4" fmla="*/ 136 w 351"/>
              <a:gd name="T5" fmla="*/ 0 h 367"/>
              <a:gd name="T6" fmla="*/ 0 w 351"/>
              <a:gd name="T7" fmla="*/ 0 h 367"/>
              <a:gd name="T8" fmla="*/ 0 w 351"/>
              <a:gd name="T9" fmla="*/ 223 h 367"/>
              <a:gd name="T10" fmla="*/ 143 w 351"/>
              <a:gd name="T11" fmla="*/ 367 h 367"/>
              <a:gd name="T12" fmla="*/ 351 w 351"/>
              <a:gd name="T13" fmla="*/ 367 h 367"/>
              <a:gd name="T14" fmla="*/ 279 w 351"/>
              <a:gd name="T15" fmla="*/ 295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51" h="367">
                <a:moveTo>
                  <a:pt x="279" y="295"/>
                </a:moveTo>
                <a:cubicBezTo>
                  <a:pt x="279" y="143"/>
                  <a:pt x="279" y="143"/>
                  <a:pt x="279" y="143"/>
                </a:cubicBezTo>
                <a:cubicBezTo>
                  <a:pt x="279" y="64"/>
                  <a:pt x="215" y="0"/>
                  <a:pt x="13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302"/>
                  <a:pt x="65" y="367"/>
                  <a:pt x="143" y="367"/>
                </a:cubicBezTo>
                <a:cubicBezTo>
                  <a:pt x="351" y="367"/>
                  <a:pt x="351" y="367"/>
                  <a:pt x="351" y="367"/>
                </a:cubicBezTo>
                <a:cubicBezTo>
                  <a:pt x="311" y="367"/>
                  <a:pt x="279" y="335"/>
                  <a:pt x="279" y="295"/>
                </a:cubicBezTo>
                <a:close/>
              </a:path>
            </a:pathLst>
          </a:custGeom>
          <a:solidFill>
            <a:srgbClr val="FDFBEE"/>
          </a:solidFill>
          <a:ln w="6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稻壳儿春秋广告/盗版必究        原创来源：http://chn.docer.com/works?userid=199329941#!/work_time"/>
          <p:cNvSpPr/>
          <p:nvPr/>
        </p:nvSpPr>
        <p:spPr bwMode="auto">
          <a:xfrm flipH="1">
            <a:off x="5894048" y="3901852"/>
            <a:ext cx="1562644" cy="1493108"/>
          </a:xfrm>
          <a:custGeom>
            <a:avLst/>
            <a:gdLst>
              <a:gd name="T0" fmla="*/ 295 w 367"/>
              <a:gd name="T1" fmla="*/ 72 h 351"/>
              <a:gd name="T2" fmla="*/ 143 w 367"/>
              <a:gd name="T3" fmla="*/ 72 h 351"/>
              <a:gd name="T4" fmla="*/ 0 w 367"/>
              <a:gd name="T5" fmla="*/ 215 h 351"/>
              <a:gd name="T6" fmla="*/ 0 w 367"/>
              <a:gd name="T7" fmla="*/ 351 h 351"/>
              <a:gd name="T8" fmla="*/ 223 w 367"/>
              <a:gd name="T9" fmla="*/ 351 h 351"/>
              <a:gd name="T10" fmla="*/ 367 w 367"/>
              <a:gd name="T11" fmla="*/ 208 h 351"/>
              <a:gd name="T12" fmla="*/ 367 w 367"/>
              <a:gd name="T13" fmla="*/ 0 h 351"/>
              <a:gd name="T14" fmla="*/ 295 w 367"/>
              <a:gd name="T15" fmla="*/ 72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67" h="351">
                <a:moveTo>
                  <a:pt x="295" y="72"/>
                </a:moveTo>
                <a:cubicBezTo>
                  <a:pt x="143" y="72"/>
                  <a:pt x="143" y="72"/>
                  <a:pt x="143" y="72"/>
                </a:cubicBezTo>
                <a:cubicBezTo>
                  <a:pt x="64" y="72"/>
                  <a:pt x="0" y="136"/>
                  <a:pt x="0" y="215"/>
                </a:cubicBezTo>
                <a:cubicBezTo>
                  <a:pt x="0" y="351"/>
                  <a:pt x="0" y="351"/>
                  <a:pt x="0" y="351"/>
                </a:cubicBezTo>
                <a:cubicBezTo>
                  <a:pt x="223" y="351"/>
                  <a:pt x="223" y="351"/>
                  <a:pt x="223" y="351"/>
                </a:cubicBezTo>
                <a:cubicBezTo>
                  <a:pt x="302" y="351"/>
                  <a:pt x="367" y="286"/>
                  <a:pt x="367" y="208"/>
                </a:cubicBezTo>
                <a:cubicBezTo>
                  <a:pt x="367" y="0"/>
                  <a:pt x="367" y="0"/>
                  <a:pt x="367" y="0"/>
                </a:cubicBezTo>
                <a:cubicBezTo>
                  <a:pt x="367" y="40"/>
                  <a:pt x="335" y="72"/>
                  <a:pt x="295" y="72"/>
                </a:cubicBezTo>
                <a:close/>
              </a:path>
            </a:pathLst>
          </a:custGeom>
          <a:solidFill>
            <a:srgbClr val="FDFBEE"/>
          </a:solidFill>
          <a:ln w="6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稻壳儿春秋广告/盗版必究        原创来源：http://chn.docer.com/works?userid=199329941#!/work_time"/>
          <p:cNvSpPr/>
          <p:nvPr/>
        </p:nvSpPr>
        <p:spPr bwMode="auto">
          <a:xfrm flipH="1">
            <a:off x="4399630" y="3725862"/>
            <a:ext cx="1494418" cy="1562644"/>
          </a:xfrm>
          <a:custGeom>
            <a:avLst/>
            <a:gdLst>
              <a:gd name="T0" fmla="*/ 208 w 351"/>
              <a:gd name="T1" fmla="*/ 0 h 367"/>
              <a:gd name="T2" fmla="*/ 0 w 351"/>
              <a:gd name="T3" fmla="*/ 0 h 367"/>
              <a:gd name="T4" fmla="*/ 72 w 351"/>
              <a:gd name="T5" fmla="*/ 72 h 367"/>
              <a:gd name="T6" fmla="*/ 72 w 351"/>
              <a:gd name="T7" fmla="*/ 224 h 367"/>
              <a:gd name="T8" fmla="*/ 215 w 351"/>
              <a:gd name="T9" fmla="*/ 367 h 367"/>
              <a:gd name="T10" fmla="*/ 351 w 351"/>
              <a:gd name="T11" fmla="*/ 367 h 367"/>
              <a:gd name="T12" fmla="*/ 351 w 351"/>
              <a:gd name="T13" fmla="*/ 144 h 367"/>
              <a:gd name="T14" fmla="*/ 208 w 351"/>
              <a:gd name="T15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51" h="367">
                <a:moveTo>
                  <a:pt x="208" y="0"/>
                </a:moveTo>
                <a:cubicBezTo>
                  <a:pt x="0" y="0"/>
                  <a:pt x="0" y="0"/>
                  <a:pt x="0" y="0"/>
                </a:cubicBezTo>
                <a:cubicBezTo>
                  <a:pt x="40" y="0"/>
                  <a:pt x="72" y="32"/>
                  <a:pt x="72" y="72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303"/>
                  <a:pt x="136" y="367"/>
                  <a:pt x="215" y="367"/>
                </a:cubicBezTo>
                <a:cubicBezTo>
                  <a:pt x="351" y="367"/>
                  <a:pt x="351" y="367"/>
                  <a:pt x="351" y="367"/>
                </a:cubicBezTo>
                <a:cubicBezTo>
                  <a:pt x="351" y="144"/>
                  <a:pt x="351" y="144"/>
                  <a:pt x="351" y="144"/>
                </a:cubicBezTo>
                <a:cubicBezTo>
                  <a:pt x="351" y="65"/>
                  <a:pt x="286" y="0"/>
                  <a:pt x="208" y="0"/>
                </a:cubicBezTo>
                <a:close/>
              </a:path>
            </a:pathLst>
          </a:custGeom>
          <a:solidFill>
            <a:srgbClr val="FDFBEE"/>
          </a:solidFill>
          <a:ln w="6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稻壳儿春秋广告/盗版必究        原创来源：http://chn.docer.com/works?userid=199329941#!/work_time"/>
          <p:cNvSpPr/>
          <p:nvPr/>
        </p:nvSpPr>
        <p:spPr bwMode="auto">
          <a:xfrm>
            <a:off x="5430520" y="2426970"/>
            <a:ext cx="190500" cy="284480"/>
          </a:xfrm>
          <a:custGeom>
            <a:avLst/>
            <a:gdLst>
              <a:gd name="T0" fmla="*/ 68 w 97"/>
              <a:gd name="T1" fmla="*/ 87 h 145"/>
              <a:gd name="T2" fmla="*/ 68 w 97"/>
              <a:gd name="T3" fmla="*/ 0 h 145"/>
              <a:gd name="T4" fmla="*/ 29 w 97"/>
              <a:gd name="T5" fmla="*/ 0 h 145"/>
              <a:gd name="T6" fmla="*/ 29 w 97"/>
              <a:gd name="T7" fmla="*/ 87 h 145"/>
              <a:gd name="T8" fmla="*/ 0 w 97"/>
              <a:gd name="T9" fmla="*/ 87 h 145"/>
              <a:gd name="T10" fmla="*/ 49 w 97"/>
              <a:gd name="T11" fmla="*/ 145 h 145"/>
              <a:gd name="T12" fmla="*/ 97 w 97"/>
              <a:gd name="T13" fmla="*/ 87 h 145"/>
              <a:gd name="T14" fmla="*/ 68 w 97"/>
              <a:gd name="T15" fmla="*/ 8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7" h="145">
                <a:moveTo>
                  <a:pt x="68" y="87"/>
                </a:moveTo>
                <a:lnTo>
                  <a:pt x="68" y="0"/>
                </a:lnTo>
                <a:lnTo>
                  <a:pt x="29" y="0"/>
                </a:lnTo>
                <a:lnTo>
                  <a:pt x="29" y="87"/>
                </a:lnTo>
                <a:lnTo>
                  <a:pt x="0" y="87"/>
                </a:lnTo>
                <a:lnTo>
                  <a:pt x="49" y="145"/>
                </a:lnTo>
                <a:lnTo>
                  <a:pt x="97" y="87"/>
                </a:lnTo>
                <a:lnTo>
                  <a:pt x="68" y="87"/>
                </a:lnTo>
                <a:close/>
              </a:path>
            </a:pathLst>
          </a:custGeom>
          <a:solidFill>
            <a:srgbClr val="FDFB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4488" y="667407"/>
            <a:ext cx="4450080" cy="25853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Word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（文字处理）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1. 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基础：文档新建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保存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查找替换；视图切换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2. 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排版：字符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段落格式；页面布局（页眉页脚、分栏）</a:t>
            </a: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3. 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进阶：对象插入（图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表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/SmartArt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）；样式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目录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邮件合并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73368" y="3515188"/>
            <a:ext cx="242887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Excel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（数据处理）</a:t>
            </a: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 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1. 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基础：工作簿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工作表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单元格操作；数据输入与填充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2. 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核心：公式（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=`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开头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+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引用）；常用函数（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SUM/IF/SUMIF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等）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3. 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进阶：排序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筛选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分类汇总；数据透视表；图表制作</a:t>
            </a:r>
          </a:p>
          <a:p>
            <a:pPr algn="ctr"/>
            <a:endParaRPr lang="zh-CN" altLang="en-US" sz="1200" dirty="0">
              <a:solidFill>
                <a:schemeClr val="bg1"/>
              </a:solidFill>
              <a:latin typeface="汉仪南宫体简" panose="02010609000101010101" charset="-122"/>
              <a:ea typeface="汉仪南宫体简" panose="0201060900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68177" y="2319895"/>
            <a:ext cx="242887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PowerPoint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（演示文稿）</a:t>
            </a: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 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1. 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基础：幻灯片增删移；版式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主题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母版设置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2. 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内容：插入文本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图</a:t>
            </a:r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音视频等对象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3. </a:t>
            </a:r>
            <a:r>
              <a:rPr lang="zh-CN" altLang="en-US" sz="1600" dirty="0">
                <a:solidFill>
                  <a:schemeClr val="bg1"/>
                </a:solidFill>
                <a:latin typeface="汉仪南宫体简" panose="02010609000101010101" charset="-122"/>
                <a:ea typeface="汉仪南宫体简" panose="02010609000101010101" charset="-122"/>
              </a:rPr>
              <a:t>动态：超链接；幻灯片切换；对象动画；放映输出</a:t>
            </a:r>
          </a:p>
          <a:p>
            <a:pPr algn="ctr"/>
            <a:endParaRPr lang="zh-CN" altLang="en-US" sz="1600" dirty="0">
              <a:solidFill>
                <a:schemeClr val="bg1"/>
              </a:solidFill>
              <a:latin typeface="汉仪南宫体简" panose="02010609000101010101" charset="-122"/>
              <a:ea typeface="汉仪南宫体简" panose="02010609000101010101" charset="-122"/>
            </a:endParaRPr>
          </a:p>
          <a:p>
            <a:pPr algn="ctr"/>
            <a:endParaRPr lang="zh-CN" altLang="en-US" sz="1200" dirty="0">
              <a:solidFill>
                <a:schemeClr val="bg1"/>
              </a:solidFill>
              <a:latin typeface="汉仪南宫体简" panose="02010609000101010101" charset="-122"/>
              <a:ea typeface="汉仪南宫体简" panose="02010609000101010101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903980" y="1892300"/>
            <a:ext cx="4384040" cy="3074035"/>
            <a:chOff x="4392" y="3660"/>
            <a:chExt cx="2054" cy="1440"/>
          </a:xfrm>
        </p:grpSpPr>
        <p:sp>
          <p:nvSpPr>
            <p:cNvPr id="9" name="椭圆 8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rgbClr val="FDFBEE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667" y="4487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723" y="4487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941" y="4779"/>
              <a:ext cx="1056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4928477" y="3011404"/>
            <a:ext cx="2492990" cy="64633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计算机信息安全与防护</a:t>
            </a:r>
          </a:p>
          <a:p>
            <a:pPr algn="ctr"/>
            <a:endParaRPr lang="zh-CN" altLang="en-US" dirty="0">
              <a:solidFill>
                <a:srgbClr val="9E000E"/>
              </a:solidFill>
              <a:latin typeface="方正兰亭细黑_GBK" panose="02000000000000000000" charset="-122"/>
              <a:ea typeface="方正兰亭细黑_GBK" panose="020000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98583" y="2255308"/>
            <a:ext cx="152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rgbClr val="9E000E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Part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a48c2e1fae594ab5ec7ac3278c26b1e"/>
          <p:cNvPicPr>
            <a:picLocks noChangeAspect="1"/>
          </p:cNvPicPr>
          <p:nvPr/>
        </p:nvPicPr>
        <p:blipFill>
          <a:blip r:embed="rId2">
            <a:lum bright="100000"/>
          </a:blip>
          <a:srcRect l="12289" t="1161" r="6630" b="20954"/>
          <a:stretch>
            <a:fillRect/>
          </a:stretch>
        </p:blipFill>
        <p:spPr>
          <a:xfrm>
            <a:off x="11414760" y="60960"/>
            <a:ext cx="737870" cy="1005840"/>
          </a:xfrm>
          <a:prstGeom prst="rect">
            <a:avLst/>
          </a:prstGeom>
        </p:spPr>
      </p:pic>
      <p:pic>
        <p:nvPicPr>
          <p:cNvPr id="3" name="图片 2" descr="9a1f5deead3f052a9b0ffba7c678cefe"/>
          <p:cNvPicPr>
            <a:picLocks noChangeAspect="1"/>
          </p:cNvPicPr>
          <p:nvPr/>
        </p:nvPicPr>
        <p:blipFill>
          <a:blip r:embed="rId3">
            <a:lum bright="-18000" contrast="30000"/>
          </a:blip>
          <a:srcRect t="72302" r="65194"/>
          <a:stretch>
            <a:fillRect/>
          </a:stretch>
        </p:blipFill>
        <p:spPr>
          <a:xfrm flipH="1">
            <a:off x="65405" y="290830"/>
            <a:ext cx="1759585" cy="78740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 rot="2100000">
            <a:off x="-708660" y="5340350"/>
            <a:ext cx="2908935" cy="2039620"/>
            <a:chOff x="4392" y="3660"/>
            <a:chExt cx="2054" cy="1440"/>
          </a:xfrm>
        </p:grpSpPr>
        <p:sp>
          <p:nvSpPr>
            <p:cNvPr id="50" name="椭圆 49"/>
            <p:cNvSpPr/>
            <p:nvPr/>
          </p:nvSpPr>
          <p:spPr>
            <a:xfrm>
              <a:off x="4392" y="3660"/>
              <a:ext cx="2054" cy="144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3C41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4656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5712" y="4152"/>
              <a:ext cx="456" cy="456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4891" y="4380"/>
              <a:ext cx="1056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圆角矩形 12">
            <a:extLst>
              <a:ext uri="{FF2B5EF4-FFF2-40B4-BE49-F238E27FC236}">
                <a16:creationId xmlns:a16="http://schemas.microsoft.com/office/drawing/2014/main" id="{A4CADCB2-2E66-BA8D-84B4-CD5B423302F1}"/>
              </a:ext>
            </a:extLst>
          </p:cNvPr>
          <p:cNvSpPr/>
          <p:nvPr/>
        </p:nvSpPr>
        <p:spPr>
          <a:xfrm>
            <a:off x="314892" y="2003218"/>
            <a:ext cx="3305316" cy="3058861"/>
          </a:xfrm>
          <a:prstGeom prst="roundRect">
            <a:avLst>
              <a:gd name="adj" fmla="val 50000"/>
            </a:avLst>
          </a:prstGeom>
          <a:solidFill>
            <a:srgbClr val="FDFBE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9E000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圆角矩形 12">
            <a:extLst>
              <a:ext uri="{FF2B5EF4-FFF2-40B4-BE49-F238E27FC236}">
                <a16:creationId xmlns:a16="http://schemas.microsoft.com/office/drawing/2014/main" id="{B4D2CE9B-0F4F-D5E2-ECC0-00A30EBE1FFC}"/>
              </a:ext>
            </a:extLst>
          </p:cNvPr>
          <p:cNvSpPr/>
          <p:nvPr/>
        </p:nvSpPr>
        <p:spPr>
          <a:xfrm>
            <a:off x="3739211" y="1952410"/>
            <a:ext cx="4620228" cy="3422006"/>
          </a:xfrm>
          <a:prstGeom prst="roundRect">
            <a:avLst>
              <a:gd name="adj" fmla="val 50000"/>
            </a:avLst>
          </a:prstGeom>
          <a:solidFill>
            <a:srgbClr val="FDFBE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9E000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圆角矩形 12">
            <a:extLst>
              <a:ext uri="{FF2B5EF4-FFF2-40B4-BE49-F238E27FC236}">
                <a16:creationId xmlns:a16="http://schemas.microsoft.com/office/drawing/2014/main" id="{87BFFDB9-6A89-7438-3A44-BD6843EE7CD9}"/>
              </a:ext>
            </a:extLst>
          </p:cNvPr>
          <p:cNvSpPr/>
          <p:nvPr/>
        </p:nvSpPr>
        <p:spPr>
          <a:xfrm>
            <a:off x="8478443" y="2054632"/>
            <a:ext cx="3535789" cy="3123053"/>
          </a:xfrm>
          <a:prstGeom prst="roundRect">
            <a:avLst>
              <a:gd name="adj" fmla="val 50000"/>
            </a:avLst>
          </a:prstGeom>
          <a:solidFill>
            <a:srgbClr val="FDFBE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9E000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3A8CC6-F845-4FAF-B650-6DEE4D49046B}"/>
              </a:ext>
            </a:extLst>
          </p:cNvPr>
          <p:cNvSpPr txBox="1"/>
          <p:nvPr/>
        </p:nvSpPr>
        <p:spPr>
          <a:xfrm>
            <a:off x="513110" y="2461998"/>
            <a:ext cx="3158220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1. </a:t>
            </a:r>
            <a:r>
              <a:rPr lang="zh-CN" altLang="en-US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核心概念</a:t>
            </a:r>
          </a:p>
          <a:p>
            <a:pPr algn="ctr"/>
            <a:r>
              <a:rPr lang="en-US" altLang="zh-CN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保密性：防止非授权访问；完整性：确保数据未被篡改；可用性：保障系统正常服务</a:t>
            </a:r>
          </a:p>
          <a:p>
            <a:pPr algn="ctr"/>
            <a:r>
              <a:rPr lang="zh-CN" altLang="en-US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威胁类型：病毒、木马、勒索软件、钓鱼攻击、</a:t>
            </a:r>
            <a:r>
              <a:rPr lang="en-US" altLang="zh-CN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DDoS</a:t>
            </a:r>
            <a:r>
              <a:rPr lang="zh-CN" altLang="en-US" dirty="0">
                <a:solidFill>
                  <a:srgbClr val="C00000"/>
                </a:solidFill>
                <a:latin typeface="方正兰亭细黑_GBK" panose="02000000000000000000" charset="-122"/>
                <a:ea typeface="方正兰亭细黑_GBK" panose="02000000000000000000" charset="-122"/>
              </a:rPr>
              <a:t>攻击、数据泄露</a:t>
            </a:r>
          </a:p>
          <a:p>
            <a:pPr algn="ctr"/>
            <a:endParaRPr lang="zh-CN" altLang="en-US" dirty="0">
              <a:solidFill>
                <a:srgbClr val="9E000E"/>
              </a:solidFill>
              <a:latin typeface="方正兰亭细黑_GBK" panose="02000000000000000000" charset="-122"/>
              <a:ea typeface="方正兰亭细黑_GBK" panose="02000000000000000000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84729B-5344-0F1D-5C8C-0C1F532A1633}"/>
              </a:ext>
            </a:extLst>
          </p:cNvPr>
          <p:cNvSpPr txBox="1"/>
          <p:nvPr/>
        </p:nvSpPr>
        <p:spPr>
          <a:xfrm>
            <a:off x="4086797" y="2101487"/>
            <a:ext cx="39250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2. 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技术防护手段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终端防护：安装杀毒软件、防火墙，开启系统自动更新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数据防护：加密存储（如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BitLocker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）、定期备份，敏感数据脱敏处理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访问控制：设置强密码、启用多因素认证，最小权限原则分配账户权限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网络防护：使用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VPN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、避免公共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Wi-Fi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传输敏感信息，关闭无用端口与服务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48C2BC-46EE-A8C8-9BCB-65E06DCA6D29}"/>
              </a:ext>
            </a:extLst>
          </p:cNvPr>
          <p:cNvSpPr txBox="1"/>
          <p:nvPr/>
        </p:nvSpPr>
        <p:spPr>
          <a:xfrm>
            <a:off x="8796812" y="2509251"/>
            <a:ext cx="30802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6000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3. </a:t>
            </a:r>
            <a:r>
              <a:rPr lang="zh-CN" altLang="en-US" b="1" dirty="0">
                <a:solidFill>
                  <a:srgbClr val="76000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管理与人员防护</a:t>
            </a:r>
          </a:p>
          <a:p>
            <a:r>
              <a:rPr lang="zh-CN" altLang="en-US" b="1" dirty="0">
                <a:solidFill>
                  <a:srgbClr val="76000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安全制度：制定数据分级管理、设备使用、应急响应预案</a:t>
            </a:r>
          </a:p>
          <a:p>
            <a:r>
              <a:rPr lang="zh-CN" altLang="en-US" b="1" dirty="0">
                <a:solidFill>
                  <a:srgbClr val="76000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人员意识：警惕钓鱼邮件与链接，不随意下载不明软件，定期开展安全培训</a:t>
            </a:r>
          </a:p>
          <a:p>
            <a:r>
              <a:rPr lang="zh-CN" altLang="en-US" b="1" dirty="0">
                <a:solidFill>
                  <a:srgbClr val="76000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9c11caf84bfef136e44f002c359eae1"/>
          <p:cNvPicPr>
            <a:picLocks noChangeAspect="1"/>
          </p:cNvPicPr>
          <p:nvPr/>
        </p:nvPicPr>
        <p:blipFill>
          <a:blip r:embed="rId2">
            <a:lum bright="-12000" contrast="12000"/>
          </a:blip>
          <a:srcRect l="2206" b="4413"/>
          <a:stretch>
            <a:fillRect/>
          </a:stretch>
        </p:blipFill>
        <p:spPr>
          <a:xfrm flipH="1">
            <a:off x="6172200" y="961390"/>
            <a:ext cx="6079490" cy="5942330"/>
          </a:xfrm>
          <a:prstGeom prst="rect">
            <a:avLst/>
          </a:prstGeom>
        </p:spPr>
      </p:pic>
      <p:pic>
        <p:nvPicPr>
          <p:cNvPr id="6" name="图片 5" descr="6a48c2e1fae594ab5ec7ac3278c26b1e"/>
          <p:cNvPicPr>
            <a:picLocks noChangeAspect="1"/>
          </p:cNvPicPr>
          <p:nvPr/>
        </p:nvPicPr>
        <p:blipFill>
          <a:blip r:embed="rId3">
            <a:lum bright="100000"/>
          </a:blip>
          <a:srcRect b="18423"/>
          <a:stretch>
            <a:fillRect/>
          </a:stretch>
        </p:blipFill>
        <p:spPr>
          <a:xfrm>
            <a:off x="1202055" y="1743710"/>
            <a:ext cx="2332990" cy="26993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3589" y="4144645"/>
            <a:ext cx="32857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000">
                <a:solidFill>
                  <a:schemeClr val="bg1"/>
                </a:solidFill>
                <a:latin typeface="方正稚艺_GBK" panose="02000000000000000000" charset="-122"/>
                <a:ea typeface="方正稚艺_GBK" panose="02000000000000000000" charset="-122"/>
              </a:rPr>
              <a:t>thanks</a:t>
            </a:r>
          </a:p>
        </p:txBody>
      </p:sp>
      <p:sp>
        <p:nvSpPr>
          <p:cNvPr id="19" name="圆角矩形标注 18"/>
          <p:cNvSpPr/>
          <p:nvPr/>
        </p:nvSpPr>
        <p:spPr>
          <a:xfrm flipH="1">
            <a:off x="7679689" y="961390"/>
            <a:ext cx="1415865" cy="582795"/>
          </a:xfrm>
          <a:prstGeom prst="wedgeRoundRectCallout">
            <a:avLst/>
          </a:prstGeom>
          <a:solidFill>
            <a:schemeClr val="bg1"/>
          </a:solidFill>
          <a:ln w="38100">
            <a:solidFill>
              <a:srgbClr val="2C2F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solidFill>
                  <a:srgbClr val="9E000E"/>
                </a:solidFill>
                <a:latin typeface="方正稚艺_GBK" panose="02000000000000000000" charset="-122"/>
                <a:ea typeface="方正稚艺_GBK" panose="02000000000000000000" charset="-122"/>
              </a:rPr>
              <a:t>bye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1043</Words>
  <Application>Microsoft Office PowerPoint</Application>
  <PresentationFormat>宽屏</PresentationFormat>
  <Paragraphs>115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方正兰亭细黑_GBK</vt:lpstr>
      <vt:lpstr>方正稚艺_GBK</vt:lpstr>
      <vt:lpstr>汉仪南宫体简</vt:lpstr>
      <vt:lpstr>黑体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龙雨鑫</dc:creator>
  <cp:lastModifiedBy>XIAOQING ZHENG</cp:lastModifiedBy>
  <cp:revision>11</cp:revision>
  <dcterms:created xsi:type="dcterms:W3CDTF">2015-05-05T08:02:00Z</dcterms:created>
  <dcterms:modified xsi:type="dcterms:W3CDTF">2026-01-05T15:23:44Z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